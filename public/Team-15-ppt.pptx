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8" r:id="rId3"/>
    <p:sldId id="259" r:id="rId4"/>
    <p:sldId id="263" r:id="rId5"/>
    <p:sldId id="264" r:id="rId6"/>
    <p:sldId id="262" r:id="rId7"/>
    <p:sldId id="274" r:id="rId8"/>
    <p:sldId id="275" r:id="rId9"/>
    <p:sldId id="277" r:id="rId10"/>
    <p:sldId id="278" r:id="rId11"/>
    <p:sldId id="269" r:id="rId12"/>
    <p:sldId id="272" r:id="rId13"/>
    <p:sldId id="2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2E5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5D7713-84A6-483C-A04A-B6C8764E6317}" v="15" dt="2025-10-31T08:47:04.2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3253CB-09B8-40CA-A423-1F16116BB963}" type="datetimeFigureOut">
              <a:rPr lang="en-US" smtClean="0"/>
              <a:t>4/18/2026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8016FF-DD62-4339-958E-2E587ABE146C}" type="slidenum">
              <a:rPr lang="en-US" smtClean="0"/>
              <a:t>‹#›</a:t>
            </a:fld>
            <a:endParaRPr lang="en-US"/>
          </a:p>
        </p:txBody>
      </p:sp>
    </p:spTree>
    <p:extLst>
      <p:ext uri="{BB962C8B-B14F-4D97-AF65-F5344CB8AC3E}">
        <p14:creationId xmlns:p14="http://schemas.microsoft.com/office/powerpoint/2010/main" val="1213219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01EF2-8C8D-78BB-E138-627C0164E4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BE137A-826E-51EE-7F83-659F0C73F4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DED2E3-0160-A14D-196B-48C7A410F695}"/>
              </a:ext>
            </a:extLst>
          </p:cNvPr>
          <p:cNvSpPr>
            <a:spLocks noGrp="1"/>
          </p:cNvSpPr>
          <p:nvPr>
            <p:ph type="dt" sz="half" idx="10"/>
          </p:nvPr>
        </p:nvSpPr>
        <p:spPr/>
        <p:txBody>
          <a:bodyPr/>
          <a:lstStyle/>
          <a:p>
            <a:fld id="{F7329062-789B-4737-8747-9E975F744111}" type="datetime9">
              <a:rPr lang="en-US" smtClean="0"/>
              <a:t>4/18/2026 12:07:45 PM</a:t>
            </a:fld>
            <a:endParaRPr lang="en-US"/>
          </a:p>
        </p:txBody>
      </p:sp>
      <p:sp>
        <p:nvSpPr>
          <p:cNvPr id="5" name="Footer Placeholder 4">
            <a:extLst>
              <a:ext uri="{FF2B5EF4-FFF2-40B4-BE49-F238E27FC236}">
                <a16:creationId xmlns:a16="http://schemas.microsoft.com/office/drawing/2014/main" id="{E075C468-6B81-59B7-E4AF-F243017A2F41}"/>
              </a:ext>
            </a:extLst>
          </p:cNvPr>
          <p:cNvSpPr>
            <a:spLocks noGrp="1"/>
          </p:cNvSpPr>
          <p:nvPr>
            <p:ph type="ftr" sz="quarter" idx="11"/>
          </p:nvPr>
        </p:nvSpPr>
        <p:spPr/>
        <p:txBody>
          <a:bodyPr/>
          <a:lstStyle/>
          <a:p>
            <a:r>
              <a:rPr lang="en-US"/>
              <a:t>Minelytics: The Intelligent Emission Analytics</a:t>
            </a:r>
          </a:p>
        </p:txBody>
      </p:sp>
      <p:sp>
        <p:nvSpPr>
          <p:cNvPr id="6" name="Slide Number Placeholder 5">
            <a:extLst>
              <a:ext uri="{FF2B5EF4-FFF2-40B4-BE49-F238E27FC236}">
                <a16:creationId xmlns:a16="http://schemas.microsoft.com/office/drawing/2014/main" id="{96BDFF70-4AC8-BC09-028E-52C4AC1C458C}"/>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1924539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80BF9-CE2F-27EE-45B3-83C15B55E5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10D8DE-D23A-2743-129B-0C9DABE7C5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56D65-7E39-D890-1D6C-F13ED3CD7BDD}"/>
              </a:ext>
            </a:extLst>
          </p:cNvPr>
          <p:cNvSpPr>
            <a:spLocks noGrp="1"/>
          </p:cNvSpPr>
          <p:nvPr>
            <p:ph type="dt" sz="half" idx="10"/>
          </p:nvPr>
        </p:nvSpPr>
        <p:spPr/>
        <p:txBody>
          <a:bodyPr/>
          <a:lstStyle/>
          <a:p>
            <a:fld id="{ADAA0DE1-6D4B-4325-8673-42B9EC4B9DAA}" type="datetime9">
              <a:rPr lang="en-US" smtClean="0"/>
              <a:t>4/18/2026 12:07:46 PM</a:t>
            </a:fld>
            <a:endParaRPr lang="en-US"/>
          </a:p>
        </p:txBody>
      </p:sp>
      <p:sp>
        <p:nvSpPr>
          <p:cNvPr id="5" name="Footer Placeholder 4">
            <a:extLst>
              <a:ext uri="{FF2B5EF4-FFF2-40B4-BE49-F238E27FC236}">
                <a16:creationId xmlns:a16="http://schemas.microsoft.com/office/drawing/2014/main" id="{D2D5724B-31D1-182E-FF79-40657751948F}"/>
              </a:ext>
            </a:extLst>
          </p:cNvPr>
          <p:cNvSpPr>
            <a:spLocks noGrp="1"/>
          </p:cNvSpPr>
          <p:nvPr>
            <p:ph type="ftr" sz="quarter" idx="11"/>
          </p:nvPr>
        </p:nvSpPr>
        <p:spPr/>
        <p:txBody>
          <a:bodyPr/>
          <a:lstStyle/>
          <a:p>
            <a:r>
              <a:rPr lang="en-US"/>
              <a:t>Minelytics: The Intelligent Emission Analytics</a:t>
            </a:r>
          </a:p>
        </p:txBody>
      </p:sp>
      <p:sp>
        <p:nvSpPr>
          <p:cNvPr id="6" name="Slide Number Placeholder 5">
            <a:extLst>
              <a:ext uri="{FF2B5EF4-FFF2-40B4-BE49-F238E27FC236}">
                <a16:creationId xmlns:a16="http://schemas.microsoft.com/office/drawing/2014/main" id="{46A9AEBC-ABF6-507B-44E1-699EC18AAAA6}"/>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372588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AD95-146C-05FE-4251-8831DF6632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8B9F32-F259-7D8C-1BA9-F41BE9A1E8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2B79FE-1E00-659F-7ED8-34F19CCCF9BC}"/>
              </a:ext>
            </a:extLst>
          </p:cNvPr>
          <p:cNvSpPr>
            <a:spLocks noGrp="1"/>
          </p:cNvSpPr>
          <p:nvPr>
            <p:ph type="dt" sz="half" idx="10"/>
          </p:nvPr>
        </p:nvSpPr>
        <p:spPr/>
        <p:txBody>
          <a:bodyPr/>
          <a:lstStyle/>
          <a:p>
            <a:fld id="{392FDB10-DB54-435B-ADEC-5DB574EF749B}" type="datetime9">
              <a:rPr lang="en-US" smtClean="0"/>
              <a:t>4/18/2026 12:07:46 PM</a:t>
            </a:fld>
            <a:endParaRPr lang="en-US"/>
          </a:p>
        </p:txBody>
      </p:sp>
      <p:sp>
        <p:nvSpPr>
          <p:cNvPr id="5" name="Footer Placeholder 4">
            <a:extLst>
              <a:ext uri="{FF2B5EF4-FFF2-40B4-BE49-F238E27FC236}">
                <a16:creationId xmlns:a16="http://schemas.microsoft.com/office/drawing/2014/main" id="{9437C2B5-199C-8087-3D5F-338CFCCD924B}"/>
              </a:ext>
            </a:extLst>
          </p:cNvPr>
          <p:cNvSpPr>
            <a:spLocks noGrp="1"/>
          </p:cNvSpPr>
          <p:nvPr>
            <p:ph type="ftr" sz="quarter" idx="11"/>
          </p:nvPr>
        </p:nvSpPr>
        <p:spPr/>
        <p:txBody>
          <a:bodyPr/>
          <a:lstStyle/>
          <a:p>
            <a:r>
              <a:rPr lang="en-US"/>
              <a:t>Minelytics: The Intelligent Emission Analytics</a:t>
            </a:r>
          </a:p>
        </p:txBody>
      </p:sp>
      <p:sp>
        <p:nvSpPr>
          <p:cNvPr id="6" name="Slide Number Placeholder 5">
            <a:extLst>
              <a:ext uri="{FF2B5EF4-FFF2-40B4-BE49-F238E27FC236}">
                <a16:creationId xmlns:a16="http://schemas.microsoft.com/office/drawing/2014/main" id="{B9099207-F8A8-04CC-78FF-60A26E4CE36F}"/>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2179797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3E8C8-8D3D-ACEA-B867-A22C1589CC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55BCC7-AC46-A8E5-71EB-96E399C792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8BAF31-C5AD-FCCF-4F55-1BBFF154F9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2EF56F-E683-099E-D9FC-CFD47D737C3B}"/>
              </a:ext>
            </a:extLst>
          </p:cNvPr>
          <p:cNvSpPr>
            <a:spLocks noGrp="1"/>
          </p:cNvSpPr>
          <p:nvPr>
            <p:ph type="dt" sz="half" idx="10"/>
          </p:nvPr>
        </p:nvSpPr>
        <p:spPr/>
        <p:txBody>
          <a:bodyPr/>
          <a:lstStyle/>
          <a:p>
            <a:fld id="{067B64F9-8E56-45AB-9043-4B0B5ABF7411}" type="datetime9">
              <a:rPr lang="en-US" smtClean="0"/>
              <a:t>4/18/2026 12:07:46 PM</a:t>
            </a:fld>
            <a:endParaRPr lang="en-US"/>
          </a:p>
        </p:txBody>
      </p:sp>
      <p:sp>
        <p:nvSpPr>
          <p:cNvPr id="6" name="Footer Placeholder 5">
            <a:extLst>
              <a:ext uri="{FF2B5EF4-FFF2-40B4-BE49-F238E27FC236}">
                <a16:creationId xmlns:a16="http://schemas.microsoft.com/office/drawing/2014/main" id="{F54599AB-4809-E851-9B67-ECAB8ADDB714}"/>
              </a:ext>
            </a:extLst>
          </p:cNvPr>
          <p:cNvSpPr>
            <a:spLocks noGrp="1"/>
          </p:cNvSpPr>
          <p:nvPr>
            <p:ph type="ftr" sz="quarter" idx="11"/>
          </p:nvPr>
        </p:nvSpPr>
        <p:spPr/>
        <p:txBody>
          <a:bodyPr/>
          <a:lstStyle/>
          <a:p>
            <a:r>
              <a:rPr lang="en-US"/>
              <a:t>Minelytics: The Intelligent Emission Analytics</a:t>
            </a:r>
          </a:p>
        </p:txBody>
      </p:sp>
      <p:sp>
        <p:nvSpPr>
          <p:cNvPr id="7" name="Slide Number Placeholder 6">
            <a:extLst>
              <a:ext uri="{FF2B5EF4-FFF2-40B4-BE49-F238E27FC236}">
                <a16:creationId xmlns:a16="http://schemas.microsoft.com/office/drawing/2014/main" id="{774630DA-BE55-BF31-40AD-DDCC865E5A5C}"/>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1989471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A9CE-784E-4180-E8BE-C03B81F95F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122279-09AA-9CF0-4BBC-729E43057A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4927B1-1A23-EAE2-F82E-47B4B883B0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2EAF30-42FB-1D79-65DB-57142CD172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CA3DB-772D-7ED2-C578-3EC3076F8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82514D-35C7-8244-9E9E-BDF6DE5362E5}"/>
              </a:ext>
            </a:extLst>
          </p:cNvPr>
          <p:cNvSpPr>
            <a:spLocks noGrp="1"/>
          </p:cNvSpPr>
          <p:nvPr>
            <p:ph type="dt" sz="half" idx="10"/>
          </p:nvPr>
        </p:nvSpPr>
        <p:spPr/>
        <p:txBody>
          <a:bodyPr/>
          <a:lstStyle/>
          <a:p>
            <a:fld id="{BB1301B8-1CCF-4EC9-B00D-691B3852DD6F}" type="datetime9">
              <a:rPr lang="en-US" smtClean="0"/>
              <a:t>4/18/2026 12:07:46 PM</a:t>
            </a:fld>
            <a:endParaRPr lang="en-US"/>
          </a:p>
        </p:txBody>
      </p:sp>
      <p:sp>
        <p:nvSpPr>
          <p:cNvPr id="8" name="Footer Placeholder 7">
            <a:extLst>
              <a:ext uri="{FF2B5EF4-FFF2-40B4-BE49-F238E27FC236}">
                <a16:creationId xmlns:a16="http://schemas.microsoft.com/office/drawing/2014/main" id="{42D5056D-8D07-E614-FAF9-F4A89F3F00FC}"/>
              </a:ext>
            </a:extLst>
          </p:cNvPr>
          <p:cNvSpPr>
            <a:spLocks noGrp="1"/>
          </p:cNvSpPr>
          <p:nvPr>
            <p:ph type="ftr" sz="quarter" idx="11"/>
          </p:nvPr>
        </p:nvSpPr>
        <p:spPr/>
        <p:txBody>
          <a:bodyPr/>
          <a:lstStyle/>
          <a:p>
            <a:r>
              <a:rPr lang="en-US"/>
              <a:t>Minelytics: The Intelligent Emission Analytics</a:t>
            </a:r>
          </a:p>
        </p:txBody>
      </p:sp>
      <p:sp>
        <p:nvSpPr>
          <p:cNvPr id="9" name="Slide Number Placeholder 8">
            <a:extLst>
              <a:ext uri="{FF2B5EF4-FFF2-40B4-BE49-F238E27FC236}">
                <a16:creationId xmlns:a16="http://schemas.microsoft.com/office/drawing/2014/main" id="{83ED0DBF-0A43-EA09-7ADC-FBCAFD0F22CA}"/>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103410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90AAA-199F-8167-4839-0088D47C2C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5076C3-01E7-BC98-2569-ABC12DF55A44}"/>
              </a:ext>
            </a:extLst>
          </p:cNvPr>
          <p:cNvSpPr>
            <a:spLocks noGrp="1"/>
          </p:cNvSpPr>
          <p:nvPr>
            <p:ph type="dt" sz="half" idx="10"/>
          </p:nvPr>
        </p:nvSpPr>
        <p:spPr/>
        <p:txBody>
          <a:bodyPr/>
          <a:lstStyle/>
          <a:p>
            <a:fld id="{0EEB0D25-BF0B-49DB-BBBA-542A3BF79826}" type="datetime9">
              <a:rPr lang="en-US" smtClean="0"/>
              <a:t>4/18/2026 12:07:46 PM</a:t>
            </a:fld>
            <a:endParaRPr lang="en-US"/>
          </a:p>
        </p:txBody>
      </p:sp>
      <p:sp>
        <p:nvSpPr>
          <p:cNvPr id="4" name="Footer Placeholder 3">
            <a:extLst>
              <a:ext uri="{FF2B5EF4-FFF2-40B4-BE49-F238E27FC236}">
                <a16:creationId xmlns:a16="http://schemas.microsoft.com/office/drawing/2014/main" id="{2AA5C32E-A1BA-308B-2FE7-653161809CE4}"/>
              </a:ext>
            </a:extLst>
          </p:cNvPr>
          <p:cNvSpPr>
            <a:spLocks noGrp="1"/>
          </p:cNvSpPr>
          <p:nvPr>
            <p:ph type="ftr" sz="quarter" idx="11"/>
          </p:nvPr>
        </p:nvSpPr>
        <p:spPr/>
        <p:txBody>
          <a:bodyPr/>
          <a:lstStyle/>
          <a:p>
            <a:r>
              <a:rPr lang="en-US"/>
              <a:t>Minelytics: The Intelligent Emission Analytics</a:t>
            </a:r>
          </a:p>
        </p:txBody>
      </p:sp>
      <p:sp>
        <p:nvSpPr>
          <p:cNvPr id="5" name="Slide Number Placeholder 4">
            <a:extLst>
              <a:ext uri="{FF2B5EF4-FFF2-40B4-BE49-F238E27FC236}">
                <a16:creationId xmlns:a16="http://schemas.microsoft.com/office/drawing/2014/main" id="{0F90D3CF-653C-5938-6CB7-9C3BA947B583}"/>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475930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663EB-5CFA-1A60-D6EA-5566841AC087}"/>
              </a:ext>
            </a:extLst>
          </p:cNvPr>
          <p:cNvSpPr>
            <a:spLocks noGrp="1"/>
          </p:cNvSpPr>
          <p:nvPr>
            <p:ph type="dt" sz="half" idx="10"/>
          </p:nvPr>
        </p:nvSpPr>
        <p:spPr/>
        <p:txBody>
          <a:bodyPr/>
          <a:lstStyle/>
          <a:p>
            <a:fld id="{675CF640-BBCF-472F-92A1-96A312CFF08F}" type="datetime9">
              <a:rPr lang="en-US" smtClean="0"/>
              <a:t>4/18/2026 12:07:46 PM</a:t>
            </a:fld>
            <a:endParaRPr lang="en-US"/>
          </a:p>
        </p:txBody>
      </p:sp>
      <p:sp>
        <p:nvSpPr>
          <p:cNvPr id="3" name="Footer Placeholder 2">
            <a:extLst>
              <a:ext uri="{FF2B5EF4-FFF2-40B4-BE49-F238E27FC236}">
                <a16:creationId xmlns:a16="http://schemas.microsoft.com/office/drawing/2014/main" id="{A53BA782-74A4-9C42-4E46-F4044C4D9EC5}"/>
              </a:ext>
            </a:extLst>
          </p:cNvPr>
          <p:cNvSpPr>
            <a:spLocks noGrp="1"/>
          </p:cNvSpPr>
          <p:nvPr>
            <p:ph type="ftr" sz="quarter" idx="11"/>
          </p:nvPr>
        </p:nvSpPr>
        <p:spPr/>
        <p:txBody>
          <a:bodyPr/>
          <a:lstStyle/>
          <a:p>
            <a:r>
              <a:rPr lang="en-US"/>
              <a:t>Minelytics: The Intelligent Emission Analytics</a:t>
            </a:r>
          </a:p>
        </p:txBody>
      </p:sp>
      <p:sp>
        <p:nvSpPr>
          <p:cNvPr id="4" name="Slide Number Placeholder 3">
            <a:extLst>
              <a:ext uri="{FF2B5EF4-FFF2-40B4-BE49-F238E27FC236}">
                <a16:creationId xmlns:a16="http://schemas.microsoft.com/office/drawing/2014/main" id="{74CA02C9-315F-43FF-625B-413CDCBF0497}"/>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409505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7A04A-6997-6DFB-904B-48CAD2EAE3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B02B9D-EC7D-AEC3-ED06-6CE8D8B0F2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39FE14-FF67-27E4-8334-72C7E3E482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2E88D0-198F-8842-87A0-2F3E984ADCB7}"/>
              </a:ext>
            </a:extLst>
          </p:cNvPr>
          <p:cNvSpPr>
            <a:spLocks noGrp="1"/>
          </p:cNvSpPr>
          <p:nvPr>
            <p:ph type="dt" sz="half" idx="10"/>
          </p:nvPr>
        </p:nvSpPr>
        <p:spPr/>
        <p:txBody>
          <a:bodyPr/>
          <a:lstStyle/>
          <a:p>
            <a:fld id="{5F88E73D-7841-463C-AA5F-A63644ECB888}" type="datetime9">
              <a:rPr lang="en-US" smtClean="0"/>
              <a:t>4/18/2026 12:07:46 PM</a:t>
            </a:fld>
            <a:endParaRPr lang="en-US"/>
          </a:p>
        </p:txBody>
      </p:sp>
      <p:sp>
        <p:nvSpPr>
          <p:cNvPr id="6" name="Footer Placeholder 5">
            <a:extLst>
              <a:ext uri="{FF2B5EF4-FFF2-40B4-BE49-F238E27FC236}">
                <a16:creationId xmlns:a16="http://schemas.microsoft.com/office/drawing/2014/main" id="{1DC36969-267D-2D25-5024-FA399125903F}"/>
              </a:ext>
            </a:extLst>
          </p:cNvPr>
          <p:cNvSpPr>
            <a:spLocks noGrp="1"/>
          </p:cNvSpPr>
          <p:nvPr>
            <p:ph type="ftr" sz="quarter" idx="11"/>
          </p:nvPr>
        </p:nvSpPr>
        <p:spPr/>
        <p:txBody>
          <a:bodyPr/>
          <a:lstStyle/>
          <a:p>
            <a:r>
              <a:rPr lang="en-US"/>
              <a:t>Minelytics: The Intelligent Emission Analytics</a:t>
            </a:r>
          </a:p>
        </p:txBody>
      </p:sp>
      <p:sp>
        <p:nvSpPr>
          <p:cNvPr id="7" name="Slide Number Placeholder 6">
            <a:extLst>
              <a:ext uri="{FF2B5EF4-FFF2-40B4-BE49-F238E27FC236}">
                <a16:creationId xmlns:a16="http://schemas.microsoft.com/office/drawing/2014/main" id="{504EFF8C-2D2B-3405-1F3D-03510F5B4B3B}"/>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49662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6ABFC-C342-0246-29C0-95E0094907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B2EA03-F82B-CD2C-BA2E-66CEA23961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5001FB-D076-993F-2DB0-0EF35DAFE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7C6E3D-66F3-15E8-D7E7-C2106333961C}"/>
              </a:ext>
            </a:extLst>
          </p:cNvPr>
          <p:cNvSpPr>
            <a:spLocks noGrp="1"/>
          </p:cNvSpPr>
          <p:nvPr>
            <p:ph type="dt" sz="half" idx="10"/>
          </p:nvPr>
        </p:nvSpPr>
        <p:spPr/>
        <p:txBody>
          <a:bodyPr/>
          <a:lstStyle/>
          <a:p>
            <a:fld id="{BC743E3D-EDEE-49C3-86D2-D49118A71943}" type="datetime9">
              <a:rPr lang="en-US" smtClean="0"/>
              <a:t>4/18/2026 12:07:46 PM</a:t>
            </a:fld>
            <a:endParaRPr lang="en-US"/>
          </a:p>
        </p:txBody>
      </p:sp>
      <p:sp>
        <p:nvSpPr>
          <p:cNvPr id="6" name="Footer Placeholder 5">
            <a:extLst>
              <a:ext uri="{FF2B5EF4-FFF2-40B4-BE49-F238E27FC236}">
                <a16:creationId xmlns:a16="http://schemas.microsoft.com/office/drawing/2014/main" id="{343C4EAE-B09F-40FD-2EFA-EC602729EBA4}"/>
              </a:ext>
            </a:extLst>
          </p:cNvPr>
          <p:cNvSpPr>
            <a:spLocks noGrp="1"/>
          </p:cNvSpPr>
          <p:nvPr>
            <p:ph type="ftr" sz="quarter" idx="11"/>
          </p:nvPr>
        </p:nvSpPr>
        <p:spPr/>
        <p:txBody>
          <a:bodyPr/>
          <a:lstStyle/>
          <a:p>
            <a:r>
              <a:rPr lang="en-US"/>
              <a:t>Minelytics: The Intelligent Emission Analytics</a:t>
            </a:r>
          </a:p>
        </p:txBody>
      </p:sp>
      <p:sp>
        <p:nvSpPr>
          <p:cNvPr id="7" name="Slide Number Placeholder 6">
            <a:extLst>
              <a:ext uri="{FF2B5EF4-FFF2-40B4-BE49-F238E27FC236}">
                <a16:creationId xmlns:a16="http://schemas.microsoft.com/office/drawing/2014/main" id="{6B24E427-69C5-8DF6-11B2-3519C929F20E}"/>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707062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E5F6C-08DC-BC9D-CE1B-6DD8BEBCC4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F4BB64-1FC3-8EF6-616F-F358669567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9B80E2-1BD2-CADA-8263-CC366600213C}"/>
              </a:ext>
            </a:extLst>
          </p:cNvPr>
          <p:cNvSpPr>
            <a:spLocks noGrp="1"/>
          </p:cNvSpPr>
          <p:nvPr>
            <p:ph type="dt" sz="half" idx="10"/>
          </p:nvPr>
        </p:nvSpPr>
        <p:spPr/>
        <p:txBody>
          <a:bodyPr/>
          <a:lstStyle/>
          <a:p>
            <a:fld id="{894285A0-19D6-460E-8B79-7F868B8BF610}" type="datetime9">
              <a:rPr lang="en-US" smtClean="0"/>
              <a:t>4/18/2026 12:07:46 PM</a:t>
            </a:fld>
            <a:endParaRPr lang="en-US"/>
          </a:p>
        </p:txBody>
      </p:sp>
      <p:sp>
        <p:nvSpPr>
          <p:cNvPr id="5" name="Footer Placeholder 4">
            <a:extLst>
              <a:ext uri="{FF2B5EF4-FFF2-40B4-BE49-F238E27FC236}">
                <a16:creationId xmlns:a16="http://schemas.microsoft.com/office/drawing/2014/main" id="{20087975-1ACD-C498-EC32-E287092B8BCE}"/>
              </a:ext>
            </a:extLst>
          </p:cNvPr>
          <p:cNvSpPr>
            <a:spLocks noGrp="1"/>
          </p:cNvSpPr>
          <p:nvPr>
            <p:ph type="ftr" sz="quarter" idx="11"/>
          </p:nvPr>
        </p:nvSpPr>
        <p:spPr/>
        <p:txBody>
          <a:bodyPr/>
          <a:lstStyle/>
          <a:p>
            <a:r>
              <a:rPr lang="en-US"/>
              <a:t>Minelytics: The Intelligent Emission Analytics</a:t>
            </a:r>
          </a:p>
        </p:txBody>
      </p:sp>
      <p:sp>
        <p:nvSpPr>
          <p:cNvPr id="6" name="Slide Number Placeholder 5">
            <a:extLst>
              <a:ext uri="{FF2B5EF4-FFF2-40B4-BE49-F238E27FC236}">
                <a16:creationId xmlns:a16="http://schemas.microsoft.com/office/drawing/2014/main" id="{F4409F23-807D-F7B1-59E5-C55EFEA84CD3}"/>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4193374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34B9D6-E5F4-B75C-6EC1-156525320F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0D9455-0092-A366-F786-A3D11288D3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3AD1A1-DE8E-CC0A-342E-D84C71CFB294}"/>
              </a:ext>
            </a:extLst>
          </p:cNvPr>
          <p:cNvSpPr>
            <a:spLocks noGrp="1"/>
          </p:cNvSpPr>
          <p:nvPr>
            <p:ph type="dt" sz="half" idx="10"/>
          </p:nvPr>
        </p:nvSpPr>
        <p:spPr/>
        <p:txBody>
          <a:bodyPr/>
          <a:lstStyle/>
          <a:p>
            <a:fld id="{CD978FB8-87A3-4707-A684-29929B15A340}" type="datetime9">
              <a:rPr lang="en-US" smtClean="0"/>
              <a:t>4/18/2026 12:07:46 PM</a:t>
            </a:fld>
            <a:endParaRPr lang="en-US"/>
          </a:p>
        </p:txBody>
      </p:sp>
      <p:sp>
        <p:nvSpPr>
          <p:cNvPr id="5" name="Footer Placeholder 4">
            <a:extLst>
              <a:ext uri="{FF2B5EF4-FFF2-40B4-BE49-F238E27FC236}">
                <a16:creationId xmlns:a16="http://schemas.microsoft.com/office/drawing/2014/main" id="{EAF51EEB-1A97-0FA2-1CB9-7878BFDF1CEE}"/>
              </a:ext>
            </a:extLst>
          </p:cNvPr>
          <p:cNvSpPr>
            <a:spLocks noGrp="1"/>
          </p:cNvSpPr>
          <p:nvPr>
            <p:ph type="ftr" sz="quarter" idx="11"/>
          </p:nvPr>
        </p:nvSpPr>
        <p:spPr/>
        <p:txBody>
          <a:bodyPr/>
          <a:lstStyle/>
          <a:p>
            <a:r>
              <a:rPr lang="en-US"/>
              <a:t>Minelytics: The Intelligent Emission Analytics</a:t>
            </a:r>
          </a:p>
        </p:txBody>
      </p:sp>
      <p:sp>
        <p:nvSpPr>
          <p:cNvPr id="6" name="Slide Number Placeholder 5">
            <a:extLst>
              <a:ext uri="{FF2B5EF4-FFF2-40B4-BE49-F238E27FC236}">
                <a16:creationId xmlns:a16="http://schemas.microsoft.com/office/drawing/2014/main" id="{5B3B792E-4B68-C5DE-A2ED-F0555EE1F74D}"/>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540036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6916B8-54CB-8C0F-3FC6-23BA309445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B8969F-4EBB-4D0A-8086-6ECC31318A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F1603-12F9-FE6F-0DDD-E9F00CA209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9C26C6-07AD-41A0-A325-E709AB48CBCE}" type="datetime9">
              <a:rPr lang="en-US" smtClean="0"/>
              <a:t>4/18/2026 12:07:45 PM</a:t>
            </a:fld>
            <a:endParaRPr lang="en-US"/>
          </a:p>
        </p:txBody>
      </p:sp>
      <p:sp>
        <p:nvSpPr>
          <p:cNvPr id="5" name="Footer Placeholder 4">
            <a:extLst>
              <a:ext uri="{FF2B5EF4-FFF2-40B4-BE49-F238E27FC236}">
                <a16:creationId xmlns:a16="http://schemas.microsoft.com/office/drawing/2014/main" id="{5E6B006A-4311-7855-7A42-6BC26A436A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Minelytics: The Intelligent Emission Analytics</a:t>
            </a:r>
          </a:p>
        </p:txBody>
      </p:sp>
      <p:sp>
        <p:nvSpPr>
          <p:cNvPr id="6" name="Slide Number Placeholder 5">
            <a:extLst>
              <a:ext uri="{FF2B5EF4-FFF2-40B4-BE49-F238E27FC236}">
                <a16:creationId xmlns:a16="http://schemas.microsoft.com/office/drawing/2014/main" id="{3143DAD4-E3C6-D3E9-0894-F3ED84F03B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9DDE7-DF24-421B-8B5A-9F7A222497E2}" type="slidenum">
              <a:rPr lang="en-US" smtClean="0"/>
              <a:t>‹#›</a:t>
            </a:fld>
            <a:endParaRPr lang="en-US"/>
          </a:p>
        </p:txBody>
      </p:sp>
    </p:spTree>
    <p:extLst>
      <p:ext uri="{BB962C8B-B14F-4D97-AF65-F5344CB8AC3E}">
        <p14:creationId xmlns:p14="http://schemas.microsoft.com/office/powerpoint/2010/main" val="2805267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45F56C-56B1-1AD9-8EEB-7A618ACA3618}"/>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64A4B94-0AEC-CAF8-2CA8-FA5281832D7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BE25E134-3879-905D-F8E3-071DF2C181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54B7778-F74C-FF6C-1107-E2CCF24A8117}"/>
              </a:ext>
            </a:extLst>
          </p:cNvPr>
          <p:cNvSpPr txBox="1"/>
          <p:nvPr/>
        </p:nvSpPr>
        <p:spPr>
          <a:xfrm>
            <a:off x="887983" y="1244960"/>
            <a:ext cx="10684891" cy="4461129"/>
          </a:xfrm>
          <a:prstGeom prst="rect">
            <a:avLst/>
          </a:prstGeom>
          <a:noFill/>
        </p:spPr>
        <p:txBody>
          <a:bodyPr wrap="square" rtlCol="0">
            <a:noAutofit/>
          </a:bodyPr>
          <a:lstStyle/>
          <a:p>
            <a:pPr algn="ctr"/>
            <a:endParaRPr lang="en-US"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a:p>
            <a:pPr algn="ctr"/>
            <a:r>
              <a:rPr lang="en-US"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Major</a:t>
            </a:r>
            <a:r>
              <a:rPr lang="en-IN"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Project Review-2 Presentation</a:t>
            </a:r>
          </a:p>
          <a:p>
            <a:pPr algn="ctr"/>
            <a:endParaRPr 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a:p>
            <a:pPr algn="ctr"/>
            <a:r>
              <a:rPr lang="en-US" sz="2800" b="1" dirty="0">
                <a:latin typeface="Times New Roman" panose="02020603050405020304" pitchFamily="18" charset="0"/>
                <a:ea typeface="Cambria" panose="02040503050406030204" pitchFamily="18" charset="0"/>
                <a:cs typeface="Times New Roman" panose="02020603050405020304" pitchFamily="18" charset="0"/>
              </a:rPr>
              <a:t> Autonomous AI coding companion</a:t>
            </a:r>
            <a:endParaRPr lang="en-IN"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Team No: 15</a:t>
            </a:r>
          </a:p>
          <a:p>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Student Name : Tapan Pendyala               </a:t>
            </a:r>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Guide Name : A. Rambabu</a:t>
            </a:r>
          </a:p>
          <a:p>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HT.No </a:t>
            </a:r>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 22EG107B58                    Designation  : Assistant Professor </a:t>
            </a:r>
          </a:p>
          <a:p>
            <a:pPr algn="just"/>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Student Name : K. </a:t>
            </a:r>
            <a:r>
              <a:rPr lang="en-US" altLang="en-IN" sz="2400" b="1"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Ganasree</a:t>
            </a:r>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endPar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endParaRPr>
          </a:p>
          <a:p>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HT.No </a:t>
            </a:r>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 22EG107B33</a:t>
            </a:r>
          </a:p>
          <a:p>
            <a:pPr algn="just"/>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Student Name : </a:t>
            </a:r>
            <a:r>
              <a:rPr lang="en-US" altLang="en-IN" sz="2400" b="1"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S.Nithin</a:t>
            </a:r>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Kumar 		</a:t>
            </a:r>
            <a:endPar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endParaRPr>
          </a:p>
          <a:p>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HT.No </a:t>
            </a:r>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 22EG107B42</a:t>
            </a:r>
          </a:p>
          <a:p>
            <a:pPr algn="just"/>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Student Name : </a:t>
            </a:r>
            <a:r>
              <a:rPr lang="en-US" altLang="en-IN" sz="2400" b="1"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P.Uday</a:t>
            </a:r>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Kiran 		</a:t>
            </a:r>
            <a:endPar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endParaRPr>
          </a:p>
          <a:p>
            <a:pPr algn="just"/>
            <a:r>
              <a:rPr lang="en-US" altLang="en-IN" sz="2400" b="1"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HT.No</a:t>
            </a:r>
            <a:r>
              <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 22EG107B43</a:t>
            </a:r>
          </a:p>
          <a:p>
            <a:pPr algn="just"/>
            <a:endPar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endParaRPr>
          </a:p>
        </p:txBody>
      </p:sp>
      <p:sp>
        <p:nvSpPr>
          <p:cNvPr id="9" name="Date Placeholder 8">
            <a:extLst>
              <a:ext uri="{FF2B5EF4-FFF2-40B4-BE49-F238E27FC236}">
                <a16:creationId xmlns:a16="http://schemas.microsoft.com/office/drawing/2014/main" id="{862EBEFD-ED99-4DFE-B330-6285DCFBFE1F}"/>
              </a:ext>
            </a:extLst>
          </p:cNvPr>
          <p:cNvSpPr>
            <a:spLocks noGrp="1"/>
          </p:cNvSpPr>
          <p:nvPr>
            <p:ph type="dt" sz="half" idx="10"/>
          </p:nvPr>
        </p:nvSpPr>
        <p:spPr/>
        <p:txBody>
          <a:bodyPr/>
          <a:lstStyle/>
          <a:p>
            <a:fld id="{52720180-395E-4FD9-8445-9B4CA4BBE51A}" type="datetime9">
              <a:rPr lang="en-US" smtClean="0"/>
              <a:t>4/18/2026 12:07:45 PM</a:t>
            </a:fld>
            <a:endParaRPr lang="en-US" dirty="0"/>
          </a:p>
        </p:txBody>
      </p:sp>
      <p:sp>
        <p:nvSpPr>
          <p:cNvPr id="11" name="Slide Number Placeholder 10">
            <a:extLst>
              <a:ext uri="{FF2B5EF4-FFF2-40B4-BE49-F238E27FC236}">
                <a16:creationId xmlns:a16="http://schemas.microsoft.com/office/drawing/2014/main" id="{EE29AA9A-557E-7029-A209-46018DEB944A}"/>
              </a:ext>
            </a:extLst>
          </p:cNvPr>
          <p:cNvSpPr>
            <a:spLocks noGrp="1"/>
          </p:cNvSpPr>
          <p:nvPr>
            <p:ph type="sldNum" sz="quarter" idx="12"/>
          </p:nvPr>
        </p:nvSpPr>
        <p:spPr/>
        <p:txBody>
          <a:bodyPr/>
          <a:lstStyle/>
          <a:p>
            <a:fld id="{5DA9DDE7-DF24-421B-8B5A-9F7A222497E2}" type="slidenum">
              <a:rPr lang="en-US" smtClean="0"/>
              <a:t>1</a:t>
            </a:fld>
            <a:endParaRPr lang="en-US" dirty="0"/>
          </a:p>
        </p:txBody>
      </p:sp>
      <p:pic>
        <p:nvPicPr>
          <p:cNvPr id="2" name="Picture 2">
            <a:extLst>
              <a:ext uri="{FF2B5EF4-FFF2-40B4-BE49-F238E27FC236}">
                <a16:creationId xmlns:a16="http://schemas.microsoft.com/office/drawing/2014/main" id="{BD9EE75A-A727-0796-4913-D38E135CC5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2344" y="378389"/>
            <a:ext cx="5140043" cy="110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3901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98A57-4ABC-4F8C-F2E9-3985A1BDE87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B829262-94EA-F9EC-736E-839393810389}"/>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A92E768-440E-DFF9-643C-D849D2C23544}"/>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descr="Anurag University Admission 2024 - 2025, Fees, Courses, Placements, Cutoff,  Ranking">
            <a:extLst>
              <a:ext uri="{FF2B5EF4-FFF2-40B4-BE49-F238E27FC236}">
                <a16:creationId xmlns:a16="http://schemas.microsoft.com/office/drawing/2014/main" id="{CC91D63C-08EE-5770-2B65-563704A767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a:extLst>
              <a:ext uri="{FF2B5EF4-FFF2-40B4-BE49-F238E27FC236}">
                <a16:creationId xmlns:a16="http://schemas.microsoft.com/office/drawing/2014/main" id="{51C715FB-8574-FFF9-9C09-216292B1C851}"/>
              </a:ext>
            </a:extLst>
          </p:cNvPr>
          <p:cNvGraphicFramePr>
            <a:graphicFrameLocks noGrp="1"/>
          </p:cNvGraphicFramePr>
          <p:nvPr>
            <p:extLst>
              <p:ext uri="{D42A27DB-BD31-4B8C-83A1-F6EECF244321}">
                <p14:modId xmlns:p14="http://schemas.microsoft.com/office/powerpoint/2010/main" val="3155977529"/>
              </p:ext>
            </p:extLst>
          </p:nvPr>
        </p:nvGraphicFramePr>
        <p:xfrm>
          <a:off x="1429653" y="1573771"/>
          <a:ext cx="9332694" cy="4258040"/>
        </p:xfrm>
        <a:graphic>
          <a:graphicData uri="http://schemas.openxmlformats.org/drawingml/2006/table">
            <a:tbl>
              <a:tblPr firstRow="1" bandRow="1">
                <a:tableStyleId>{5C22544A-7EE6-4342-B048-85BDC9FD1C3A}</a:tableStyleId>
              </a:tblPr>
              <a:tblGrid>
                <a:gridCol w="930089">
                  <a:extLst>
                    <a:ext uri="{9D8B030D-6E8A-4147-A177-3AD203B41FA5}">
                      <a16:colId xmlns:a16="http://schemas.microsoft.com/office/drawing/2014/main" val="3368147984"/>
                    </a:ext>
                  </a:extLst>
                </a:gridCol>
                <a:gridCol w="6220704">
                  <a:extLst>
                    <a:ext uri="{9D8B030D-6E8A-4147-A177-3AD203B41FA5}">
                      <a16:colId xmlns:a16="http://schemas.microsoft.com/office/drawing/2014/main" val="3995356100"/>
                    </a:ext>
                  </a:extLst>
                </a:gridCol>
                <a:gridCol w="2181901">
                  <a:extLst>
                    <a:ext uri="{9D8B030D-6E8A-4147-A177-3AD203B41FA5}">
                      <a16:colId xmlns:a16="http://schemas.microsoft.com/office/drawing/2014/main" val="2741894368"/>
                    </a:ext>
                  </a:extLst>
                </a:gridCol>
              </a:tblGrid>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S.No</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Title</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Slide No</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5124677"/>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Abstract</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3</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1789016"/>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2</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Objectives</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4</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0614818"/>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3</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Problem Statement</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5</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7283047"/>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4</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Methodology </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6</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1214994"/>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5</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solidFill>
                            <a:schemeClr val="tx1"/>
                          </a:solidFill>
                          <a:latin typeface="Times New Roman" panose="02020603050405020304" pitchFamily="18" charset="0"/>
                          <a:cs typeface="Times New Roman" panose="02020603050405020304" pitchFamily="18" charset="0"/>
                        </a:rPr>
                        <a:t>Implementation</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7</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9376524"/>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6</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solidFill>
                            <a:schemeClr val="tx1"/>
                          </a:solidFill>
                          <a:latin typeface="Times New Roman" panose="02020603050405020304" pitchFamily="18" charset="0"/>
                          <a:cs typeface="Times New Roman" panose="02020603050405020304" pitchFamily="18" charset="0"/>
                        </a:rPr>
                        <a:t>Results</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8</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6088894"/>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7</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solidFill>
                            <a:schemeClr val="tx1"/>
                          </a:solidFill>
                          <a:latin typeface="Times New Roman" panose="02020603050405020304" pitchFamily="18" charset="0"/>
                          <a:cs typeface="Times New Roman" panose="02020603050405020304" pitchFamily="18" charset="0"/>
                        </a:rPr>
                        <a:t>Discussion</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10</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1969841"/>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8</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solidFill>
                            <a:schemeClr val="tx1"/>
                          </a:solidFill>
                          <a:latin typeface="Times New Roman" panose="02020603050405020304" pitchFamily="18" charset="0"/>
                          <a:cs typeface="Times New Roman" panose="02020603050405020304" pitchFamily="18" charset="0"/>
                        </a:rPr>
                        <a:t>Conclusion and Future Work</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11</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8926392"/>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9</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Reference</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12</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7840251"/>
                  </a:ext>
                </a:extLst>
              </a:tr>
            </a:tbl>
          </a:graphicData>
        </a:graphic>
      </p:graphicFrame>
      <p:sp>
        <p:nvSpPr>
          <p:cNvPr id="12" name="TextBox 11">
            <a:extLst>
              <a:ext uri="{FF2B5EF4-FFF2-40B4-BE49-F238E27FC236}">
                <a16:creationId xmlns:a16="http://schemas.microsoft.com/office/drawing/2014/main" id="{F93642B8-C0B5-CE21-66CA-1E9A825F80DE}"/>
              </a:ext>
            </a:extLst>
          </p:cNvPr>
          <p:cNvSpPr txBox="1"/>
          <p:nvPr/>
        </p:nvSpPr>
        <p:spPr>
          <a:xfrm>
            <a:off x="5314376" y="653143"/>
            <a:ext cx="1757212" cy="584775"/>
          </a:xfrm>
          <a:prstGeom prst="rect">
            <a:avLst/>
          </a:prstGeom>
          <a:noFill/>
        </p:spPr>
        <p:txBody>
          <a:bodyPr wrap="none" rtlCol="0">
            <a:spAutoFit/>
          </a:bodyPr>
          <a:lstStyle/>
          <a:p>
            <a:r>
              <a:rPr lang="en-US" sz="3200" b="1" dirty="0">
                <a:solidFill>
                  <a:srgbClr val="FF0000"/>
                </a:solidFill>
                <a:latin typeface="Times New Roman" panose="02020603050405020304" pitchFamily="18" charset="0"/>
                <a:cs typeface="Times New Roman" panose="02020603050405020304" pitchFamily="18" charset="0"/>
              </a:rPr>
              <a:t>Contents</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13" name="Date Placeholder 6">
            <a:extLst>
              <a:ext uri="{FF2B5EF4-FFF2-40B4-BE49-F238E27FC236}">
                <a16:creationId xmlns:a16="http://schemas.microsoft.com/office/drawing/2014/main" id="{08A33588-CFD5-A29F-5418-AA78FA126CA7}"/>
              </a:ext>
            </a:extLst>
          </p:cNvPr>
          <p:cNvSpPr>
            <a:spLocks noGrp="1"/>
          </p:cNvSpPr>
          <p:nvPr>
            <p:ph type="dt" sz="half" idx="10"/>
          </p:nvPr>
        </p:nvSpPr>
        <p:spPr>
          <a:xfrm>
            <a:off x="838200" y="6356350"/>
            <a:ext cx="2743200" cy="365125"/>
          </a:xfrm>
        </p:spPr>
        <p:txBody>
          <a:bodyPr/>
          <a:lstStyle/>
          <a:p>
            <a:fld id="{8AFC2C72-86FC-4C0B-A9D9-3AF04D89878C}" type="datetime9">
              <a:rPr lang="en-US" smtClean="0"/>
              <a:t>4/18/2026 12:07:46 PM</a:t>
            </a:fld>
            <a:endParaRPr lang="en-US"/>
          </a:p>
        </p:txBody>
      </p:sp>
      <p:sp>
        <p:nvSpPr>
          <p:cNvPr id="15" name="Slide Number Placeholder 8">
            <a:extLst>
              <a:ext uri="{FF2B5EF4-FFF2-40B4-BE49-F238E27FC236}">
                <a16:creationId xmlns:a16="http://schemas.microsoft.com/office/drawing/2014/main" id="{0C9294DE-E048-0EDE-D31F-86CBF47B7E20}"/>
              </a:ext>
            </a:extLst>
          </p:cNvPr>
          <p:cNvSpPr>
            <a:spLocks noGrp="1"/>
          </p:cNvSpPr>
          <p:nvPr>
            <p:ph type="sldNum" sz="quarter" idx="12"/>
          </p:nvPr>
        </p:nvSpPr>
        <p:spPr>
          <a:xfrm>
            <a:off x="8610600" y="6356350"/>
            <a:ext cx="2743200" cy="365125"/>
          </a:xfrm>
        </p:spPr>
        <p:txBody>
          <a:bodyPr/>
          <a:lstStyle/>
          <a:p>
            <a:fld id="{5DA9DDE7-DF24-421B-8B5A-9F7A222497E2}" type="slidenum">
              <a:rPr lang="en-US" smtClean="0"/>
              <a:t>2</a:t>
            </a:fld>
            <a:endParaRPr lang="en-US"/>
          </a:p>
        </p:txBody>
      </p:sp>
    </p:spTree>
    <p:extLst>
      <p:ext uri="{BB962C8B-B14F-4D97-AF65-F5344CB8AC3E}">
        <p14:creationId xmlns:p14="http://schemas.microsoft.com/office/powerpoint/2010/main" val="2341489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ACD31-F466-CF76-66D7-464E1008A52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BB8CEB0-7DEA-9764-27EA-5BCE7CDBAC33}"/>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F754ED0-3B8F-2024-4DDF-1E37E2A25C09}"/>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6B4C49DF-35EA-F397-DDB2-0E539BA19C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502BABA-8B8B-090B-5152-B0B7FF65A08C}"/>
              </a:ext>
            </a:extLst>
          </p:cNvPr>
          <p:cNvSpPr txBox="1"/>
          <p:nvPr/>
        </p:nvSpPr>
        <p:spPr>
          <a:xfrm>
            <a:off x="5239836" y="434379"/>
            <a:ext cx="1712328" cy="584775"/>
          </a:xfrm>
          <a:prstGeom prst="rect">
            <a:avLst/>
          </a:prstGeom>
          <a:noFill/>
        </p:spPr>
        <p:txBody>
          <a:bodyPr wrap="none" rtlCol="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Abstract</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80C99BBF-911E-0247-3696-AAC44E78383A}"/>
              </a:ext>
            </a:extLst>
          </p:cNvPr>
          <p:cNvSpPr>
            <a:spLocks noGrp="1"/>
          </p:cNvSpPr>
          <p:nvPr>
            <p:ph type="dt" sz="half" idx="10"/>
          </p:nvPr>
        </p:nvSpPr>
        <p:spPr>
          <a:xfrm>
            <a:off x="710380" y="6509635"/>
            <a:ext cx="2743200" cy="365125"/>
          </a:xfrm>
        </p:spPr>
        <p:txBody>
          <a:bodyPr/>
          <a:lstStyle/>
          <a:p>
            <a:fld id="{145702D3-C203-4EDC-A2DB-1AC9206A3089}" type="datetime9">
              <a:rPr lang="en-US" smtClean="0"/>
              <a:t>4/18/2026 12:07:46 PM</a:t>
            </a:fld>
            <a:endParaRPr lang="en-US" dirty="0"/>
          </a:p>
        </p:txBody>
      </p:sp>
      <p:sp>
        <p:nvSpPr>
          <p:cNvPr id="10" name="Slide Number Placeholder 9">
            <a:extLst>
              <a:ext uri="{FF2B5EF4-FFF2-40B4-BE49-F238E27FC236}">
                <a16:creationId xmlns:a16="http://schemas.microsoft.com/office/drawing/2014/main" id="{9A8AD77A-BAB5-6FE1-0197-28C121C967FA}"/>
              </a:ext>
            </a:extLst>
          </p:cNvPr>
          <p:cNvSpPr>
            <a:spLocks noGrp="1"/>
          </p:cNvSpPr>
          <p:nvPr>
            <p:ph type="sldNum" sz="quarter" idx="12"/>
          </p:nvPr>
        </p:nvSpPr>
        <p:spPr/>
        <p:txBody>
          <a:bodyPr/>
          <a:lstStyle/>
          <a:p>
            <a:fld id="{5DA9DDE7-DF24-421B-8B5A-9F7A222497E2}" type="slidenum">
              <a:rPr lang="en-US" smtClean="0"/>
              <a:t>3</a:t>
            </a:fld>
            <a:endParaRPr lang="en-US" dirty="0"/>
          </a:p>
        </p:txBody>
      </p:sp>
      <p:sp>
        <p:nvSpPr>
          <p:cNvPr id="2" name="TextBox 1">
            <a:extLst>
              <a:ext uri="{FF2B5EF4-FFF2-40B4-BE49-F238E27FC236}">
                <a16:creationId xmlns:a16="http://schemas.microsoft.com/office/drawing/2014/main" id="{5616ABB4-AA17-1237-4774-B44182EB2197}"/>
              </a:ext>
            </a:extLst>
          </p:cNvPr>
          <p:cNvSpPr txBox="1"/>
          <p:nvPr/>
        </p:nvSpPr>
        <p:spPr>
          <a:xfrm>
            <a:off x="904567" y="1258495"/>
            <a:ext cx="10382864" cy="3371885"/>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Modern software development struggles with understanding large, evolving codebases due to missing context like historical decisions, developer intent, risk, and knowledge distribution. Existing AI tools focus mainly on code generation and lack insight into how and why systems evolve. This project introduces an Intelligent Context-Aware System that integrates data from version control, pull requests, issues, and documentation to build a unified knowledge layer using knowledge graphs, static analysis, and RAG. It enables temporal code analysis, risk assessment, and developer expertise mapping, delivering real-time insights directly in the IDE. This reduces context switching, improves productivity, and minimizes errors by transforming codebases into intelligent, context-aware systems.</a:t>
            </a:r>
          </a:p>
        </p:txBody>
      </p:sp>
    </p:spTree>
    <p:extLst>
      <p:ext uri="{BB962C8B-B14F-4D97-AF65-F5344CB8AC3E}">
        <p14:creationId xmlns:p14="http://schemas.microsoft.com/office/powerpoint/2010/main" val="2626330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BA22C-9A8E-0180-5238-77EEBB0D15E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3B602DD-01AC-6BCD-4B49-EBF9D103802F}"/>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DD5264D-877D-A399-FA3F-1C8E7E7D1051}"/>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15256B3A-62FD-A303-2C28-9CFE3EF29E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EFE83289-373C-3DF7-973B-EB164D8C58C7}"/>
              </a:ext>
            </a:extLst>
          </p:cNvPr>
          <p:cNvSpPr>
            <a:spLocks noGrp="1"/>
          </p:cNvSpPr>
          <p:nvPr>
            <p:ph type="dt" sz="half" idx="10"/>
          </p:nvPr>
        </p:nvSpPr>
        <p:spPr/>
        <p:txBody>
          <a:bodyPr/>
          <a:lstStyle/>
          <a:p>
            <a:fld id="{4EC3EDC0-ED61-4F56-80E0-9F69D6851B5D}" type="datetime9">
              <a:rPr lang="en-US" smtClean="0"/>
              <a:t>4/18/2026 12:07:46 PM</a:t>
            </a:fld>
            <a:endParaRPr lang="en-US"/>
          </a:p>
        </p:txBody>
      </p:sp>
      <p:sp>
        <p:nvSpPr>
          <p:cNvPr id="6" name="Slide Number Placeholder 5">
            <a:extLst>
              <a:ext uri="{FF2B5EF4-FFF2-40B4-BE49-F238E27FC236}">
                <a16:creationId xmlns:a16="http://schemas.microsoft.com/office/drawing/2014/main" id="{B7095F19-8BC0-1966-BA59-F6D465014116}"/>
              </a:ext>
            </a:extLst>
          </p:cNvPr>
          <p:cNvSpPr>
            <a:spLocks noGrp="1"/>
          </p:cNvSpPr>
          <p:nvPr>
            <p:ph type="sldNum" sz="quarter" idx="12"/>
          </p:nvPr>
        </p:nvSpPr>
        <p:spPr/>
        <p:txBody>
          <a:bodyPr/>
          <a:lstStyle/>
          <a:p>
            <a:fld id="{5DA9DDE7-DF24-421B-8B5A-9F7A222497E2}" type="slidenum">
              <a:rPr lang="en-US" smtClean="0"/>
              <a:t>4</a:t>
            </a:fld>
            <a:endParaRPr lang="en-US"/>
          </a:p>
        </p:txBody>
      </p:sp>
      <p:sp>
        <p:nvSpPr>
          <p:cNvPr id="7" name="TextBox 6">
            <a:extLst>
              <a:ext uri="{FF2B5EF4-FFF2-40B4-BE49-F238E27FC236}">
                <a16:creationId xmlns:a16="http://schemas.microsoft.com/office/drawing/2014/main" id="{49BF7D42-2522-ED87-8F71-B354B3B27988}"/>
              </a:ext>
            </a:extLst>
          </p:cNvPr>
          <p:cNvSpPr txBox="1"/>
          <p:nvPr/>
        </p:nvSpPr>
        <p:spPr>
          <a:xfrm>
            <a:off x="5080337" y="391533"/>
            <a:ext cx="2031326" cy="584775"/>
          </a:xfrm>
          <a:prstGeom prst="rect">
            <a:avLst/>
          </a:prstGeom>
          <a:noFill/>
        </p:spPr>
        <p:txBody>
          <a:bodyPr wrap="none" rtlCol="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Objectives</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36B2549-D175-0743-C80D-B0D838C01E80}"/>
              </a:ext>
            </a:extLst>
          </p:cNvPr>
          <p:cNvSpPr txBox="1"/>
          <p:nvPr/>
        </p:nvSpPr>
        <p:spPr>
          <a:xfrm>
            <a:off x="678804" y="731763"/>
            <a:ext cx="11098161" cy="2907847"/>
          </a:xfrm>
          <a:prstGeom prst="rect">
            <a:avLst/>
          </a:prstGeom>
          <a:noFill/>
        </p:spPr>
        <p:txBody>
          <a:bodyPr wrap="square">
            <a:spAutoFit/>
          </a:bodyPr>
          <a:lstStyle/>
          <a:p>
            <a:pPr algn="just">
              <a:lnSpc>
                <a:spcPct val="250000"/>
              </a:lnSpc>
            </a:pPr>
            <a:r>
              <a:rPr lang="en-US" sz="3200" dirty="0">
                <a:latin typeface="Times New Roman" panose="02020603050405020304" pitchFamily="18" charset="0"/>
                <a:cs typeface="Times New Roman" panose="02020603050405020304" pitchFamily="18" charset="0"/>
              </a:rPr>
              <a:t>Objectives of the proposed work are:</a:t>
            </a:r>
          </a:p>
          <a:p>
            <a:pPr marL="514350" indent="-514350" algn="just">
              <a:lnSpc>
                <a:spcPct val="200000"/>
              </a:lnSpc>
              <a:buAutoNum type="arabicPeriod"/>
            </a:pPr>
            <a:r>
              <a:rPr lang="en-US" dirty="0">
                <a:latin typeface="Times New Roman" panose="02020603050405020304" pitchFamily="18" charset="0"/>
                <a:cs typeface="Times New Roman" panose="02020603050405020304" pitchFamily="18" charset="0"/>
              </a:rPr>
              <a:t>Build a context-aware system by integrating code, commits, and documentation into a unified view.</a:t>
            </a:r>
          </a:p>
          <a:p>
            <a:pPr marL="514350" indent="-514350" algn="just">
              <a:lnSpc>
                <a:spcPct val="200000"/>
              </a:lnSpc>
              <a:buAutoNum type="arabicPeriod"/>
            </a:pPr>
            <a:r>
              <a:rPr lang="en-US" dirty="0">
                <a:latin typeface="Times New Roman" panose="02020603050405020304" pitchFamily="18" charset="0"/>
                <a:cs typeface="Times New Roman" panose="02020603050405020304" pitchFamily="18" charset="0"/>
              </a:rPr>
              <a:t>Generate insights like code history, risk detection, and developer expertise mapping.</a:t>
            </a:r>
          </a:p>
          <a:p>
            <a:pPr marL="514350" indent="-514350" algn="just">
              <a:lnSpc>
                <a:spcPct val="200000"/>
              </a:lnSpc>
              <a:buFontTx/>
              <a:buAutoNum type="arabicPeriod"/>
            </a:pPr>
            <a:r>
              <a:rPr lang="en-US" dirty="0">
                <a:latin typeface="Times New Roman" panose="02020603050405020304" pitchFamily="18" charset="0"/>
                <a:cs typeface="Times New Roman" panose="02020603050405020304" pitchFamily="18" charset="0"/>
              </a:rPr>
              <a:t>Improve productivity with real-time insights to reduce effort and speed up development. </a:t>
            </a:r>
          </a:p>
        </p:txBody>
      </p:sp>
    </p:spTree>
    <p:extLst>
      <p:ext uri="{BB962C8B-B14F-4D97-AF65-F5344CB8AC3E}">
        <p14:creationId xmlns:p14="http://schemas.microsoft.com/office/powerpoint/2010/main" val="3570831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E25B5-8C71-B693-3A81-320AFDB1F21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9F98B17-D195-F097-4B4A-ACDDE8D611AE}"/>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2BD99D8-B423-B4FA-3AFD-6EDF10CBC51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2AF89AF4-B618-F9FC-CF26-429C3078AC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B7D08BC9-94E1-A825-3FD1-577C3ABEEB35}"/>
              </a:ext>
            </a:extLst>
          </p:cNvPr>
          <p:cNvSpPr>
            <a:spLocks noGrp="1"/>
          </p:cNvSpPr>
          <p:nvPr>
            <p:ph type="dt" sz="half" idx="10"/>
          </p:nvPr>
        </p:nvSpPr>
        <p:spPr/>
        <p:txBody>
          <a:bodyPr/>
          <a:lstStyle/>
          <a:p>
            <a:fld id="{4FE79833-E0F8-4CEB-9E4D-7B1F2D8C8F95}" type="datetime9">
              <a:rPr lang="en-US" smtClean="0"/>
              <a:t>4/18/2026 12:07:46 PM</a:t>
            </a:fld>
            <a:endParaRPr lang="en-US"/>
          </a:p>
        </p:txBody>
      </p:sp>
      <p:sp>
        <p:nvSpPr>
          <p:cNvPr id="6" name="Slide Number Placeholder 5">
            <a:extLst>
              <a:ext uri="{FF2B5EF4-FFF2-40B4-BE49-F238E27FC236}">
                <a16:creationId xmlns:a16="http://schemas.microsoft.com/office/drawing/2014/main" id="{F68E8BF4-A649-4528-479E-C61CEA3B8F2F}"/>
              </a:ext>
            </a:extLst>
          </p:cNvPr>
          <p:cNvSpPr>
            <a:spLocks noGrp="1"/>
          </p:cNvSpPr>
          <p:nvPr>
            <p:ph type="sldNum" sz="quarter" idx="12"/>
          </p:nvPr>
        </p:nvSpPr>
        <p:spPr/>
        <p:txBody>
          <a:bodyPr/>
          <a:lstStyle/>
          <a:p>
            <a:fld id="{5DA9DDE7-DF24-421B-8B5A-9F7A222497E2}" type="slidenum">
              <a:rPr lang="en-US" smtClean="0"/>
              <a:t>5</a:t>
            </a:fld>
            <a:endParaRPr lang="en-US"/>
          </a:p>
        </p:txBody>
      </p:sp>
      <p:sp>
        <p:nvSpPr>
          <p:cNvPr id="7" name="TextBox 6">
            <a:extLst>
              <a:ext uri="{FF2B5EF4-FFF2-40B4-BE49-F238E27FC236}">
                <a16:creationId xmlns:a16="http://schemas.microsoft.com/office/drawing/2014/main" id="{C49CDAD6-3D29-3A37-DEF8-218BB414BAB6}"/>
              </a:ext>
            </a:extLst>
          </p:cNvPr>
          <p:cNvSpPr txBox="1"/>
          <p:nvPr/>
        </p:nvSpPr>
        <p:spPr>
          <a:xfrm>
            <a:off x="4316223" y="653143"/>
            <a:ext cx="3559564" cy="584775"/>
          </a:xfrm>
          <a:prstGeom prst="rect">
            <a:avLst/>
          </a:prstGeom>
          <a:noFill/>
        </p:spPr>
        <p:txBody>
          <a:bodyPr wrap="none" rtlCol="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A3946A83-1D4E-FBC8-7D4C-1CEFB2753FD9}"/>
              </a:ext>
            </a:extLst>
          </p:cNvPr>
          <p:cNvSpPr txBox="1"/>
          <p:nvPr/>
        </p:nvSpPr>
        <p:spPr>
          <a:xfrm>
            <a:off x="838200" y="1364744"/>
            <a:ext cx="10744200" cy="2126864"/>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As software systems grow in size and complexity, developers struggle to understand codebases due to fragmented context such as past changes, developer intent, and potential risks. Existing tools, including AI assistants, largely focus on writing code rather than explaining its evolution or impact, resulting in inefficiencies and higher chances of errors. This highlights the need for a scalable solution that unifies project information and delivers clear, actionable insights to help developers work more efficiently and make informed decisions.</a:t>
            </a:r>
          </a:p>
        </p:txBody>
      </p:sp>
    </p:spTree>
    <p:extLst>
      <p:ext uri="{BB962C8B-B14F-4D97-AF65-F5344CB8AC3E}">
        <p14:creationId xmlns:p14="http://schemas.microsoft.com/office/powerpoint/2010/main" val="1762796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5712D-596E-D340-ACBE-00469CA37F8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1E7469F-FF4D-21E9-5C17-0BB52FCDE97F}"/>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106D088-29FC-E9CD-44C6-A30DDCAFCD2D}"/>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E8629A13-1994-5B9A-CDA8-9CF2AE1790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334273F7-2CC4-7D16-7514-ED0A0AC3B8AB}"/>
              </a:ext>
            </a:extLst>
          </p:cNvPr>
          <p:cNvSpPr>
            <a:spLocks noGrp="1"/>
          </p:cNvSpPr>
          <p:nvPr>
            <p:ph type="dt" sz="half" idx="10"/>
          </p:nvPr>
        </p:nvSpPr>
        <p:spPr/>
        <p:txBody>
          <a:bodyPr/>
          <a:lstStyle/>
          <a:p>
            <a:fld id="{94BEC837-73E5-41BC-837E-78D9EE6A26D4}" type="datetime9">
              <a:rPr lang="en-US" smtClean="0"/>
              <a:t>4/18/2026 12:07:46 PM</a:t>
            </a:fld>
            <a:endParaRPr lang="en-US"/>
          </a:p>
        </p:txBody>
      </p:sp>
      <p:sp>
        <p:nvSpPr>
          <p:cNvPr id="6" name="Slide Number Placeholder 5">
            <a:extLst>
              <a:ext uri="{FF2B5EF4-FFF2-40B4-BE49-F238E27FC236}">
                <a16:creationId xmlns:a16="http://schemas.microsoft.com/office/drawing/2014/main" id="{C3E03D1D-4035-EF17-509E-8183745F46B8}"/>
              </a:ext>
            </a:extLst>
          </p:cNvPr>
          <p:cNvSpPr>
            <a:spLocks noGrp="1"/>
          </p:cNvSpPr>
          <p:nvPr>
            <p:ph type="sldNum" sz="quarter" idx="12"/>
          </p:nvPr>
        </p:nvSpPr>
        <p:spPr/>
        <p:txBody>
          <a:bodyPr/>
          <a:lstStyle/>
          <a:p>
            <a:fld id="{5DA9DDE7-DF24-421B-8B5A-9F7A222497E2}" type="slidenum">
              <a:rPr lang="en-US" smtClean="0"/>
              <a:t>6</a:t>
            </a:fld>
            <a:endParaRPr lang="en-US" dirty="0"/>
          </a:p>
        </p:txBody>
      </p:sp>
      <p:sp>
        <p:nvSpPr>
          <p:cNvPr id="7" name="TextBox 6">
            <a:extLst>
              <a:ext uri="{FF2B5EF4-FFF2-40B4-BE49-F238E27FC236}">
                <a16:creationId xmlns:a16="http://schemas.microsoft.com/office/drawing/2014/main" id="{CC3F154D-DD24-9DF7-CE7F-FDE45BC9E06D}"/>
              </a:ext>
            </a:extLst>
          </p:cNvPr>
          <p:cNvSpPr txBox="1"/>
          <p:nvPr/>
        </p:nvSpPr>
        <p:spPr>
          <a:xfrm>
            <a:off x="4852710" y="460987"/>
            <a:ext cx="2486579" cy="584775"/>
          </a:xfrm>
          <a:prstGeom prst="rect">
            <a:avLst/>
          </a:prstGeom>
          <a:noFill/>
        </p:spPr>
        <p:txBody>
          <a:bodyPr wrap="none" rtlCol="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Methodology</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E75CC90-3D5C-3938-D65D-2E3A6677E08C}"/>
              </a:ext>
            </a:extLst>
          </p:cNvPr>
          <p:cNvSpPr txBox="1"/>
          <p:nvPr/>
        </p:nvSpPr>
        <p:spPr>
          <a:xfrm>
            <a:off x="4950297" y="5948515"/>
            <a:ext cx="2694840" cy="307777"/>
          </a:xfrm>
          <a:prstGeom prst="rect">
            <a:avLst/>
          </a:prstGeom>
          <a:noFill/>
        </p:spPr>
        <p:txBody>
          <a:bodyPr wrap="none" rtlCol="0">
            <a:spAutoFit/>
          </a:bodyPr>
          <a:lstStyle/>
          <a:p>
            <a:pPr algn="just"/>
            <a:r>
              <a:rPr lang="en-US" sz="1400" b="1" dirty="0">
                <a:latin typeface="Times New Roman" panose="02020603050405020304" pitchFamily="18" charset="0"/>
                <a:cs typeface="Times New Roman" panose="02020603050405020304" pitchFamily="18" charset="0"/>
              </a:rPr>
              <a:t>Figure-1. Proposed Methodology</a:t>
            </a:r>
          </a:p>
        </p:txBody>
      </p:sp>
      <p:sp>
        <p:nvSpPr>
          <p:cNvPr id="3" name="AutoShape 2" descr="Generated image: Context-aware software development flowchart">
            <a:extLst>
              <a:ext uri="{FF2B5EF4-FFF2-40B4-BE49-F238E27FC236}">
                <a16:creationId xmlns:a16="http://schemas.microsoft.com/office/drawing/2014/main" id="{6D43BD62-61AA-A4BB-4663-33347F10816A}"/>
              </a:ext>
            </a:extLst>
          </p:cNvPr>
          <p:cNvSpPr>
            <a:spLocks noChangeAspect="1" noChangeArrowheads="1"/>
          </p:cNvSpPr>
          <p:nvPr/>
        </p:nvSpPr>
        <p:spPr bwMode="auto">
          <a:xfrm>
            <a:off x="5943600" y="3276600"/>
            <a:ext cx="342900" cy="3429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0695AA94-DB0A-1439-4356-3CFA6B853C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7390" y="1434704"/>
            <a:ext cx="8275319" cy="4513811"/>
          </a:xfrm>
          <a:prstGeom prst="rect">
            <a:avLst/>
          </a:prstGeom>
        </p:spPr>
      </p:pic>
    </p:spTree>
    <p:extLst>
      <p:ext uri="{BB962C8B-B14F-4D97-AF65-F5344CB8AC3E}">
        <p14:creationId xmlns:p14="http://schemas.microsoft.com/office/powerpoint/2010/main" val="2834124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32580-0825-4D29-D15B-1176E5884AA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7BF0A4-8B8A-E2B6-CCBB-D35B8E651B46}"/>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2ED89B4-AC46-296B-E442-EDE383993E96}"/>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2C7C53F7-2840-A8AF-C7C6-EB0609FA59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5E17C813-C0D3-E4C4-20E6-4196CD8DF2C2}"/>
              </a:ext>
            </a:extLst>
          </p:cNvPr>
          <p:cNvSpPr>
            <a:spLocks noGrp="1"/>
          </p:cNvSpPr>
          <p:nvPr>
            <p:ph type="dt" sz="half" idx="10"/>
          </p:nvPr>
        </p:nvSpPr>
        <p:spPr/>
        <p:txBody>
          <a:bodyPr/>
          <a:lstStyle/>
          <a:p>
            <a:fld id="{94BEC837-73E5-41BC-837E-78D9EE6A26D4}" type="datetime9">
              <a:rPr lang="en-US" smtClean="0"/>
              <a:t>4/18/2026 12:07:46 PM</a:t>
            </a:fld>
            <a:endParaRPr lang="en-US"/>
          </a:p>
        </p:txBody>
      </p:sp>
      <p:sp>
        <p:nvSpPr>
          <p:cNvPr id="6" name="Slide Number Placeholder 5">
            <a:extLst>
              <a:ext uri="{FF2B5EF4-FFF2-40B4-BE49-F238E27FC236}">
                <a16:creationId xmlns:a16="http://schemas.microsoft.com/office/drawing/2014/main" id="{64AA6EA0-6142-12A3-0673-3F6959D83651}"/>
              </a:ext>
            </a:extLst>
          </p:cNvPr>
          <p:cNvSpPr>
            <a:spLocks noGrp="1"/>
          </p:cNvSpPr>
          <p:nvPr>
            <p:ph type="sldNum" sz="quarter" idx="12"/>
          </p:nvPr>
        </p:nvSpPr>
        <p:spPr/>
        <p:txBody>
          <a:bodyPr/>
          <a:lstStyle/>
          <a:p>
            <a:fld id="{5DA9DDE7-DF24-421B-8B5A-9F7A222497E2}" type="slidenum">
              <a:rPr lang="en-US" smtClean="0"/>
              <a:t>7</a:t>
            </a:fld>
            <a:endParaRPr lang="en-US" dirty="0"/>
          </a:p>
        </p:txBody>
      </p:sp>
      <p:sp>
        <p:nvSpPr>
          <p:cNvPr id="7" name="TextBox 6">
            <a:extLst>
              <a:ext uri="{FF2B5EF4-FFF2-40B4-BE49-F238E27FC236}">
                <a16:creationId xmlns:a16="http://schemas.microsoft.com/office/drawing/2014/main" id="{B72DE842-50D3-E6EE-EC04-E01EA03C0CD2}"/>
              </a:ext>
            </a:extLst>
          </p:cNvPr>
          <p:cNvSpPr txBox="1"/>
          <p:nvPr/>
        </p:nvSpPr>
        <p:spPr>
          <a:xfrm>
            <a:off x="4775774" y="653143"/>
            <a:ext cx="2640466" cy="523220"/>
          </a:xfrm>
          <a:prstGeom prst="rect">
            <a:avLst/>
          </a:prstGeom>
          <a:noFill/>
        </p:spPr>
        <p:txBody>
          <a:bodyPr wrap="non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Implementation</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2F90620-33C5-BAB1-0A64-B4F9ABDA4F26}"/>
              </a:ext>
            </a:extLst>
          </p:cNvPr>
          <p:cNvSpPr txBox="1"/>
          <p:nvPr/>
        </p:nvSpPr>
        <p:spPr>
          <a:xfrm>
            <a:off x="3194192" y="6356349"/>
            <a:ext cx="6100916" cy="307777"/>
          </a:xfrm>
          <a:prstGeom prst="rect">
            <a:avLst/>
          </a:prstGeom>
          <a:noFill/>
        </p:spPr>
        <p:txBody>
          <a:bodyPr wrap="square">
            <a:spAutoFit/>
          </a:bodyPr>
          <a:lstStyle/>
          <a:p>
            <a:pPr algn="ctr"/>
            <a:r>
              <a:rPr lang="en-US" sz="1400" b="1" dirty="0">
                <a:latin typeface="Times New Roman" panose="02020603050405020304" pitchFamily="18" charset="0"/>
                <a:cs typeface="Times New Roman" panose="02020603050405020304" pitchFamily="18" charset="0"/>
              </a:rPr>
              <a:t>Figure-2. User Interface for Implementation </a:t>
            </a:r>
          </a:p>
        </p:txBody>
      </p:sp>
      <p:pic>
        <p:nvPicPr>
          <p:cNvPr id="8" name="Picture 7">
            <a:extLst>
              <a:ext uri="{FF2B5EF4-FFF2-40B4-BE49-F238E27FC236}">
                <a16:creationId xmlns:a16="http://schemas.microsoft.com/office/drawing/2014/main" id="{9C72264F-B05B-2B8C-B056-2289EF76FA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3342" y="1125690"/>
            <a:ext cx="8622616" cy="5096373"/>
          </a:xfrm>
          <a:prstGeom prst="rect">
            <a:avLst/>
          </a:prstGeom>
        </p:spPr>
      </p:pic>
    </p:spTree>
    <p:extLst>
      <p:ext uri="{BB962C8B-B14F-4D97-AF65-F5344CB8AC3E}">
        <p14:creationId xmlns:p14="http://schemas.microsoft.com/office/powerpoint/2010/main" val="1115908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8C463-0AEA-0EAB-3091-72DBCCECED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06D4971-A7F5-1D05-209A-575DA9303D5B}"/>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967ED3A-BED7-2E37-D234-22FFE4CBC7AB}"/>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3BF11BFB-A2DC-474F-0F55-C67F894648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BC5A1D35-B7E4-6CE8-12B9-5A68F30B0FDD}"/>
              </a:ext>
            </a:extLst>
          </p:cNvPr>
          <p:cNvSpPr>
            <a:spLocks noGrp="1"/>
          </p:cNvSpPr>
          <p:nvPr>
            <p:ph type="dt" sz="half" idx="10"/>
          </p:nvPr>
        </p:nvSpPr>
        <p:spPr/>
        <p:txBody>
          <a:bodyPr/>
          <a:lstStyle/>
          <a:p>
            <a:fld id="{94BEC837-73E5-41BC-837E-78D9EE6A26D4}" type="datetime9">
              <a:rPr lang="en-US" smtClean="0"/>
              <a:t>4/18/2026 12:07:47 PM</a:t>
            </a:fld>
            <a:endParaRPr lang="en-US"/>
          </a:p>
        </p:txBody>
      </p:sp>
      <p:sp>
        <p:nvSpPr>
          <p:cNvPr id="6" name="Slide Number Placeholder 5">
            <a:extLst>
              <a:ext uri="{FF2B5EF4-FFF2-40B4-BE49-F238E27FC236}">
                <a16:creationId xmlns:a16="http://schemas.microsoft.com/office/drawing/2014/main" id="{0DE07797-6BD1-8066-4BA3-979C7B0BBAA7}"/>
              </a:ext>
            </a:extLst>
          </p:cNvPr>
          <p:cNvSpPr>
            <a:spLocks noGrp="1"/>
          </p:cNvSpPr>
          <p:nvPr>
            <p:ph type="sldNum" sz="quarter" idx="12"/>
          </p:nvPr>
        </p:nvSpPr>
        <p:spPr/>
        <p:txBody>
          <a:bodyPr/>
          <a:lstStyle/>
          <a:p>
            <a:fld id="{5DA9DDE7-DF24-421B-8B5A-9F7A222497E2}" type="slidenum">
              <a:rPr lang="en-US" smtClean="0"/>
              <a:t>8</a:t>
            </a:fld>
            <a:endParaRPr lang="en-US" dirty="0"/>
          </a:p>
        </p:txBody>
      </p:sp>
      <p:sp>
        <p:nvSpPr>
          <p:cNvPr id="7" name="TextBox 6">
            <a:extLst>
              <a:ext uri="{FF2B5EF4-FFF2-40B4-BE49-F238E27FC236}">
                <a16:creationId xmlns:a16="http://schemas.microsoft.com/office/drawing/2014/main" id="{222494A2-1D18-92C8-491D-F92981D1E072}"/>
              </a:ext>
            </a:extLst>
          </p:cNvPr>
          <p:cNvSpPr txBox="1"/>
          <p:nvPr/>
        </p:nvSpPr>
        <p:spPr>
          <a:xfrm>
            <a:off x="5445025" y="653143"/>
            <a:ext cx="1301959" cy="523220"/>
          </a:xfrm>
          <a:prstGeom prst="rect">
            <a:avLst/>
          </a:prstGeom>
          <a:noFill/>
        </p:spPr>
        <p:txBody>
          <a:bodyPr wrap="non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Results</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684E612-D9BC-DBB3-48E0-1AECBD8A89E9}"/>
              </a:ext>
            </a:extLst>
          </p:cNvPr>
          <p:cNvSpPr txBox="1"/>
          <p:nvPr/>
        </p:nvSpPr>
        <p:spPr>
          <a:xfrm>
            <a:off x="914400" y="1364744"/>
            <a:ext cx="10439400" cy="3788858"/>
          </a:xfrm>
          <a:prstGeom prst="rect">
            <a:avLst/>
          </a:prstGeom>
          <a:noFill/>
        </p:spPr>
        <p:txBody>
          <a:bodyPr wrap="square" rtlCol="0">
            <a:spAutoFit/>
          </a:bodyPr>
          <a:lstStyle/>
          <a:p>
            <a:pPr>
              <a:lnSpc>
                <a:spcPct val="150000"/>
              </a:lnSpc>
            </a:pPr>
            <a:r>
              <a:rPr lang="en-US" dirty="0"/>
              <a:t>CORTEX improves developer productivity by enabling faster code understanding through intent and history, reducing time spent searching across commits, and accelerating onboarding with clear “who changed what and why” insights. It enhances code quality by identifying high-risk files early, prioritizing reviews based on risk, and reducing regressions in critical areas. The system strengthens knowledge retention by capturing intent, minimizing dependency on key individuals, and ensuring smooth team transitions. With real-time IDE intelligence, it delivers live risk signals, in-context insights while coding, and a continuously evolving project memory. Built on a modular, scalable architecture with an extensible knowledge graph, it targets measurable impact: 20–40% faster context understanding, 15–30% faster reviews, 20–35% quicker onboarding, 10–25% fewer regressions, and sub-200ms response times.</a:t>
            </a:r>
          </a:p>
        </p:txBody>
      </p:sp>
    </p:spTree>
    <p:extLst>
      <p:ext uri="{BB962C8B-B14F-4D97-AF65-F5344CB8AC3E}">
        <p14:creationId xmlns:p14="http://schemas.microsoft.com/office/powerpoint/2010/main" val="2692518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A456C-3D08-562B-8348-3398A1DC9F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B14776F-8E54-604F-07B2-F1E4C44B13BD}"/>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CCCD4E5-69BE-320A-F850-29FA7AF2C69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B6135856-4DFC-7D4A-3F39-7E1C2869B1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51FA27EB-793C-770D-2454-EB5F2D514DEA}"/>
              </a:ext>
            </a:extLst>
          </p:cNvPr>
          <p:cNvSpPr>
            <a:spLocks noGrp="1"/>
          </p:cNvSpPr>
          <p:nvPr>
            <p:ph type="dt" sz="half" idx="10"/>
          </p:nvPr>
        </p:nvSpPr>
        <p:spPr/>
        <p:txBody>
          <a:bodyPr/>
          <a:lstStyle/>
          <a:p>
            <a:fld id="{94BEC837-73E5-41BC-837E-78D9EE6A26D4}" type="datetime9">
              <a:rPr lang="en-US" smtClean="0"/>
              <a:t>4/18/2026 12:07:47 PM</a:t>
            </a:fld>
            <a:endParaRPr lang="en-US"/>
          </a:p>
        </p:txBody>
      </p:sp>
      <p:sp>
        <p:nvSpPr>
          <p:cNvPr id="6" name="Slide Number Placeholder 5">
            <a:extLst>
              <a:ext uri="{FF2B5EF4-FFF2-40B4-BE49-F238E27FC236}">
                <a16:creationId xmlns:a16="http://schemas.microsoft.com/office/drawing/2014/main" id="{24926654-F1EB-A882-76BF-C2FF29FFF8FD}"/>
              </a:ext>
            </a:extLst>
          </p:cNvPr>
          <p:cNvSpPr>
            <a:spLocks noGrp="1"/>
          </p:cNvSpPr>
          <p:nvPr>
            <p:ph type="sldNum" sz="quarter" idx="12"/>
          </p:nvPr>
        </p:nvSpPr>
        <p:spPr/>
        <p:txBody>
          <a:bodyPr/>
          <a:lstStyle/>
          <a:p>
            <a:fld id="{5DA9DDE7-DF24-421B-8B5A-9F7A222497E2}" type="slidenum">
              <a:rPr lang="en-US" smtClean="0"/>
              <a:t>9</a:t>
            </a:fld>
            <a:endParaRPr lang="en-US" dirty="0"/>
          </a:p>
        </p:txBody>
      </p:sp>
      <p:sp>
        <p:nvSpPr>
          <p:cNvPr id="7" name="TextBox 6">
            <a:extLst>
              <a:ext uri="{FF2B5EF4-FFF2-40B4-BE49-F238E27FC236}">
                <a16:creationId xmlns:a16="http://schemas.microsoft.com/office/drawing/2014/main" id="{43413B0A-4712-5023-F9AE-4DCF7E668E4E}"/>
              </a:ext>
            </a:extLst>
          </p:cNvPr>
          <p:cNvSpPr txBox="1"/>
          <p:nvPr/>
        </p:nvSpPr>
        <p:spPr>
          <a:xfrm>
            <a:off x="5079535" y="434379"/>
            <a:ext cx="2032929" cy="584775"/>
          </a:xfrm>
          <a:prstGeom prst="rect">
            <a:avLst/>
          </a:prstGeom>
          <a:noFill/>
        </p:spPr>
        <p:txBody>
          <a:bodyPr wrap="none" rtlCol="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Discussion</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1C1B9A4-D89A-3496-74CC-CAA47CC6986C}"/>
              </a:ext>
            </a:extLst>
          </p:cNvPr>
          <p:cNvSpPr txBox="1"/>
          <p:nvPr/>
        </p:nvSpPr>
        <p:spPr>
          <a:xfrm>
            <a:off x="910003" y="1364744"/>
            <a:ext cx="10371992" cy="419755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 The proposed system improves software development by providing better understanding of complex codebases through integration of multiple data sources. Unlike traditional tools, it offers deeper insights such as code history, developer intent, and system relationships.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Using knowledge graphs and AI techniques like RAG, the system can identify high-risk modules and map developer expertise, helping in safer and more efficient code changes.</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system reduces time spent on understanding code and minimizes context-switching. However, its performance depends on the quality of input data. Overall, it provides a scalable and practical approach for modern software development.</a:t>
            </a:r>
          </a:p>
        </p:txBody>
      </p:sp>
    </p:spTree>
    <p:extLst>
      <p:ext uri="{BB962C8B-B14F-4D97-AF65-F5344CB8AC3E}">
        <p14:creationId xmlns:p14="http://schemas.microsoft.com/office/powerpoint/2010/main" val="3931078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DCFF7-2260-0CC1-79C7-775748EDF2D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B674766-C0F5-B886-1A60-8B69D6CA6A47}"/>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27738DE-876E-AEC6-DAF2-E92814D952F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46496A91-FF41-8A7D-ACA7-2DA76AA463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60064588-A685-1C85-CB6F-D927401215A6}"/>
              </a:ext>
            </a:extLst>
          </p:cNvPr>
          <p:cNvSpPr>
            <a:spLocks noGrp="1"/>
          </p:cNvSpPr>
          <p:nvPr>
            <p:ph type="dt" sz="half" idx="10"/>
          </p:nvPr>
        </p:nvSpPr>
        <p:spPr/>
        <p:txBody>
          <a:bodyPr/>
          <a:lstStyle/>
          <a:p>
            <a:fld id="{94BEC837-73E5-41BC-837E-78D9EE6A26D4}" type="datetime9">
              <a:rPr lang="en-US" smtClean="0"/>
              <a:t>4/18/2026 12:07:47 PM</a:t>
            </a:fld>
            <a:endParaRPr lang="en-US"/>
          </a:p>
        </p:txBody>
      </p:sp>
      <p:sp>
        <p:nvSpPr>
          <p:cNvPr id="6" name="Slide Number Placeholder 5">
            <a:extLst>
              <a:ext uri="{FF2B5EF4-FFF2-40B4-BE49-F238E27FC236}">
                <a16:creationId xmlns:a16="http://schemas.microsoft.com/office/drawing/2014/main" id="{CD70B484-193A-1CFE-4840-455055AEC1EA}"/>
              </a:ext>
            </a:extLst>
          </p:cNvPr>
          <p:cNvSpPr>
            <a:spLocks noGrp="1"/>
          </p:cNvSpPr>
          <p:nvPr>
            <p:ph type="sldNum" sz="quarter" idx="12"/>
          </p:nvPr>
        </p:nvSpPr>
        <p:spPr/>
        <p:txBody>
          <a:bodyPr/>
          <a:lstStyle/>
          <a:p>
            <a:fld id="{5DA9DDE7-DF24-421B-8B5A-9F7A222497E2}" type="slidenum">
              <a:rPr lang="en-US" smtClean="0"/>
              <a:t>10</a:t>
            </a:fld>
            <a:endParaRPr lang="en-US" dirty="0"/>
          </a:p>
        </p:txBody>
      </p:sp>
      <p:sp>
        <p:nvSpPr>
          <p:cNvPr id="7" name="TextBox 6">
            <a:extLst>
              <a:ext uri="{FF2B5EF4-FFF2-40B4-BE49-F238E27FC236}">
                <a16:creationId xmlns:a16="http://schemas.microsoft.com/office/drawing/2014/main" id="{5D25B0E0-DDA9-9BA2-36AA-409759BE3E99}"/>
              </a:ext>
            </a:extLst>
          </p:cNvPr>
          <p:cNvSpPr txBox="1"/>
          <p:nvPr/>
        </p:nvSpPr>
        <p:spPr>
          <a:xfrm>
            <a:off x="3303638" y="584317"/>
            <a:ext cx="5306962" cy="584775"/>
          </a:xfrm>
          <a:prstGeom prst="rect">
            <a:avLst/>
          </a:prstGeom>
          <a:noFill/>
        </p:spPr>
        <p:txBody>
          <a:bodyPr wrap="square" rtlCol="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Conclusion</a:t>
            </a:r>
            <a:r>
              <a:rPr lang="en-US" sz="2800" b="1" dirty="0">
                <a:solidFill>
                  <a:srgbClr val="FF0000"/>
                </a:solidFill>
                <a:latin typeface="Times New Roman" panose="02020603050405020304" pitchFamily="18" charset="0"/>
                <a:cs typeface="Times New Roman" panose="02020603050405020304" pitchFamily="18" charset="0"/>
              </a:rPr>
              <a:t> and Future Work</a:t>
            </a:r>
            <a:endParaRPr lang="en-US" sz="2800" dirty="0"/>
          </a:p>
        </p:txBody>
      </p:sp>
      <p:sp>
        <p:nvSpPr>
          <p:cNvPr id="3" name="TextBox 2">
            <a:extLst>
              <a:ext uri="{FF2B5EF4-FFF2-40B4-BE49-F238E27FC236}">
                <a16:creationId xmlns:a16="http://schemas.microsoft.com/office/drawing/2014/main" id="{138417B9-09B0-35B7-AECF-B50D31A7302A}"/>
              </a:ext>
            </a:extLst>
          </p:cNvPr>
          <p:cNvSpPr txBox="1"/>
          <p:nvPr/>
        </p:nvSpPr>
        <p:spPr>
          <a:xfrm>
            <a:off x="838200" y="1244040"/>
            <a:ext cx="10186750" cy="5490221"/>
          </a:xfrm>
          <a:prstGeom prst="rect">
            <a:avLst/>
          </a:prstGeom>
          <a:noFill/>
        </p:spPr>
        <p:txBody>
          <a:bodyPr wrap="square" rtlCol="0">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Conclusion: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The proposed context-aware system improves understanding of complex software codebases by integrating project-level information into a unified intelligence layer. Using knowledge graphs and AI-based analysis, it provides insights such as code history, risk factors, and developer expertise directly within the IDE.</a:t>
            </a:r>
          </a:p>
          <a:p>
            <a:pPr algn="just">
              <a:lnSpc>
                <a:spcPct val="150000"/>
              </a:lnSpc>
            </a:pPr>
            <a:r>
              <a:rPr lang="en-US" dirty="0">
                <a:latin typeface="Times New Roman" panose="02020603050405020304" pitchFamily="18" charset="0"/>
                <a:cs typeface="Times New Roman" panose="02020603050405020304" pitchFamily="18" charset="0"/>
              </a:rPr>
              <a:t>The system reduces the time required to understand code, improves decision-making, and minimizes errors, making it a scalable and practical solution for modern software development.</a:t>
            </a:r>
          </a:p>
          <a:p>
            <a:pPr algn="just">
              <a:lnSpc>
                <a:spcPct val="150000"/>
              </a:lnSpc>
            </a:pPr>
            <a:r>
              <a:rPr lang="en-US" sz="2000" b="1" dirty="0">
                <a:latin typeface="Times New Roman" panose="02020603050405020304" pitchFamily="18" charset="0"/>
                <a:cs typeface="Times New Roman" panose="02020603050405020304" pitchFamily="18" charset="0"/>
              </a:rPr>
              <a:t>Future work:</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Integrate real-time runtime data such as logs and system performance metrics for improved analysis.</a:t>
            </a:r>
          </a:p>
          <a:p>
            <a:pPr algn="just">
              <a:lnSpc>
                <a:spcPct val="150000"/>
              </a:lnSpc>
            </a:pPr>
            <a:r>
              <a:rPr lang="en-US" dirty="0">
                <a:latin typeface="Times New Roman" panose="02020603050405020304" pitchFamily="18" charset="0"/>
                <a:cs typeface="Times New Roman" panose="02020603050405020304" pitchFamily="18" charset="0"/>
              </a:rPr>
              <a:t>• Enhance the AI model to automatically capture developer intent without manual input</a:t>
            </a:r>
          </a:p>
          <a:p>
            <a:pPr algn="just">
              <a:lnSpc>
                <a:spcPct val="150000"/>
              </a:lnSpc>
            </a:pPr>
            <a:r>
              <a:rPr lang="en-US" dirty="0">
                <a:latin typeface="Times New Roman" panose="02020603050405020304" pitchFamily="18" charset="0"/>
                <a:cs typeface="Times New Roman" panose="02020603050405020304" pitchFamily="18" charset="0"/>
              </a:rPr>
              <a:t>• Expand the system to support multiple IDE platforms and large-scale enterprise environments.</a:t>
            </a:r>
          </a:p>
          <a:p>
            <a:pPr algn="just">
              <a:lnSpc>
                <a:spcPct val="150000"/>
              </a:lnSpc>
            </a:pPr>
            <a:r>
              <a:rPr lang="en-US" dirty="0">
                <a:latin typeface="Times New Roman" panose="02020603050405020304" pitchFamily="18" charset="0"/>
                <a:cs typeface="Times New Roman" panose="02020603050405020304" pitchFamily="18" charset="0"/>
              </a:rPr>
              <a:t>• Improve visualization through advanced dashboards and interactive architecture mapping.</a:t>
            </a:r>
          </a:p>
          <a:p>
            <a:pPr algn="just">
              <a:lnSpc>
                <a:spcPct val="150000"/>
              </a:lnSpc>
            </a:pPr>
            <a:r>
              <a:rPr lang="en-US" dirty="0">
                <a:latin typeface="Times New Roman" panose="02020603050405020304" pitchFamily="18" charset="0"/>
                <a:cs typeface="Times New Roman" panose="02020603050405020304" pitchFamily="18" charset="0"/>
              </a:rPr>
              <a:t>• Incorporate predictive analysis to estimate the impact of code changes before implementation.</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6552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33547-B37A-497A-E198-05A80858BAC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D918A5-2B0A-38A6-C68E-84888CE11303}"/>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7BCD6CC-474E-8283-7A5D-722CBE2F3A2D}"/>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7BDA247A-9BB7-C81F-A811-A737C02E0D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139257C1-1C90-C96B-0D05-6D992C284E44}"/>
              </a:ext>
            </a:extLst>
          </p:cNvPr>
          <p:cNvSpPr>
            <a:spLocks noGrp="1"/>
          </p:cNvSpPr>
          <p:nvPr>
            <p:ph type="dt" sz="half" idx="10"/>
          </p:nvPr>
        </p:nvSpPr>
        <p:spPr/>
        <p:txBody>
          <a:bodyPr/>
          <a:lstStyle/>
          <a:p>
            <a:fld id="{94BEC837-73E5-41BC-837E-78D9EE6A26D4}" type="datetime9">
              <a:rPr lang="en-US" smtClean="0"/>
              <a:t>4/18/2026 12:07:47 PM</a:t>
            </a:fld>
            <a:endParaRPr lang="en-US"/>
          </a:p>
        </p:txBody>
      </p:sp>
      <p:sp>
        <p:nvSpPr>
          <p:cNvPr id="6" name="Slide Number Placeholder 5">
            <a:extLst>
              <a:ext uri="{FF2B5EF4-FFF2-40B4-BE49-F238E27FC236}">
                <a16:creationId xmlns:a16="http://schemas.microsoft.com/office/drawing/2014/main" id="{87DA01EB-FA9A-F12A-72AA-728AA474C23A}"/>
              </a:ext>
            </a:extLst>
          </p:cNvPr>
          <p:cNvSpPr>
            <a:spLocks noGrp="1"/>
          </p:cNvSpPr>
          <p:nvPr>
            <p:ph type="sldNum" sz="quarter" idx="12"/>
          </p:nvPr>
        </p:nvSpPr>
        <p:spPr/>
        <p:txBody>
          <a:bodyPr/>
          <a:lstStyle/>
          <a:p>
            <a:fld id="{5DA9DDE7-DF24-421B-8B5A-9F7A222497E2}" type="slidenum">
              <a:rPr lang="en-US" smtClean="0"/>
              <a:t>11</a:t>
            </a:fld>
            <a:endParaRPr lang="en-US" dirty="0"/>
          </a:p>
        </p:txBody>
      </p:sp>
      <p:sp>
        <p:nvSpPr>
          <p:cNvPr id="7" name="TextBox 6">
            <a:extLst>
              <a:ext uri="{FF2B5EF4-FFF2-40B4-BE49-F238E27FC236}">
                <a16:creationId xmlns:a16="http://schemas.microsoft.com/office/drawing/2014/main" id="{E6B799EB-2389-6276-2E0F-70098B63902C}"/>
              </a:ext>
            </a:extLst>
          </p:cNvPr>
          <p:cNvSpPr txBox="1"/>
          <p:nvPr/>
        </p:nvSpPr>
        <p:spPr>
          <a:xfrm>
            <a:off x="5170945" y="653143"/>
            <a:ext cx="1850122" cy="523220"/>
          </a:xfrm>
          <a:prstGeom prst="rect">
            <a:avLst/>
          </a:prstGeom>
          <a:noFill/>
        </p:spPr>
        <p:txBody>
          <a:bodyPr wrap="non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References</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A8A8B3A-D7ED-462B-6CAD-89B7CF942A00}"/>
              </a:ext>
            </a:extLst>
          </p:cNvPr>
          <p:cNvSpPr txBox="1"/>
          <p:nvPr/>
        </p:nvSpPr>
        <p:spPr>
          <a:xfrm>
            <a:off x="1002625" y="914753"/>
            <a:ext cx="10186750" cy="4849404"/>
          </a:xfrm>
          <a:prstGeom prst="rect">
            <a:avLst/>
          </a:prstGeom>
          <a:noFill/>
        </p:spPr>
        <p:txBody>
          <a:bodyPr wrap="square" rtlCol="0">
            <a:spAutoFit/>
          </a:bodyPr>
          <a:lstStyle/>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[1] T. Zimmermann, N. Nagappan, H. Gall, E. Giger, and B. Murphy, “Cross-project defect prediction: A large scale experiment on data vs. domain vs. process,” in Proc. 7th Joint Meeting of the European Software Engineering Conference and the ACM SIGSOFT Symp. on the Foundations of Software Engineering (ESEC/FSE), 2009, pp. 91–100.</a:t>
            </a: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[2] Stack Overflow, “Stack Overflow Developer Survey 2024,” Stack Overflow, 2024. [Online]. Available: https://survey.stackoverflow.co/2024/. [Accessed: Apr. 2026].</a:t>
            </a: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[3] DX, “2024 State of Developer Productivity,” DX Research, 2024. [Online]. Available: https://getdx.com/research/2024-state-of-developer-productivity. [Accessed:Apr.2026].</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[4] P. Lewis et al., “Retrieval-Augmented Generation for Knowledge-Intensive NLP Tasks,” in Advances in Neural Information Processing Systems (</a:t>
            </a:r>
            <a:r>
              <a:rPr lang="en-US" sz="1600" dirty="0" err="1">
                <a:latin typeface="Times New Roman" panose="02020603050405020304" pitchFamily="18" charset="0"/>
                <a:cs typeface="Times New Roman" panose="02020603050405020304" pitchFamily="18" charset="0"/>
              </a:rPr>
              <a:t>NeurIPS</a:t>
            </a:r>
            <a:r>
              <a:rPr lang="en-US" sz="1600" dirty="0">
                <a:latin typeface="Times New Roman" panose="02020603050405020304" pitchFamily="18" charset="0"/>
                <a:cs typeface="Times New Roman" panose="02020603050405020304" pitchFamily="18" charset="0"/>
              </a:rPr>
              <a:t>), vol. 33, 2020, pp. 9459–9474.</a:t>
            </a:r>
          </a:p>
          <a:p>
            <a:pPr algn="just">
              <a:lnSpc>
                <a:spcPct val="150000"/>
              </a:lnSpc>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39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1DB89-E037-5EBE-5B15-1C69A554DC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B015AC-A954-76FF-C2A7-804BC4B200CF}"/>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1686971-0990-A639-E529-953C23B54516}"/>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48300FC0-0797-AD28-5EA2-F8F6B1518F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B91EC7AA-EFE6-A528-A7C1-B4AAD508F0C1}"/>
              </a:ext>
            </a:extLst>
          </p:cNvPr>
          <p:cNvSpPr>
            <a:spLocks noGrp="1"/>
          </p:cNvSpPr>
          <p:nvPr>
            <p:ph type="dt" sz="half" idx="10"/>
          </p:nvPr>
        </p:nvSpPr>
        <p:spPr/>
        <p:txBody>
          <a:bodyPr/>
          <a:lstStyle/>
          <a:p>
            <a:fld id="{94BEC837-73E5-41BC-837E-78D9EE6A26D4}" type="datetime9">
              <a:rPr lang="en-US" smtClean="0"/>
              <a:t>4/18/2026 12:07:47 PM</a:t>
            </a:fld>
            <a:endParaRPr lang="en-US"/>
          </a:p>
        </p:txBody>
      </p:sp>
      <p:sp>
        <p:nvSpPr>
          <p:cNvPr id="6" name="Slide Number Placeholder 5">
            <a:extLst>
              <a:ext uri="{FF2B5EF4-FFF2-40B4-BE49-F238E27FC236}">
                <a16:creationId xmlns:a16="http://schemas.microsoft.com/office/drawing/2014/main" id="{F1AB7315-E0DF-C786-57E8-0D39092FA8A8}"/>
              </a:ext>
            </a:extLst>
          </p:cNvPr>
          <p:cNvSpPr>
            <a:spLocks noGrp="1"/>
          </p:cNvSpPr>
          <p:nvPr>
            <p:ph type="sldNum" sz="quarter" idx="12"/>
          </p:nvPr>
        </p:nvSpPr>
        <p:spPr/>
        <p:txBody>
          <a:bodyPr/>
          <a:lstStyle/>
          <a:p>
            <a:fld id="{5DA9DDE7-DF24-421B-8B5A-9F7A222497E2}" type="slidenum">
              <a:rPr lang="en-US" smtClean="0"/>
              <a:t>12</a:t>
            </a:fld>
            <a:endParaRPr lang="en-US" dirty="0"/>
          </a:p>
        </p:txBody>
      </p:sp>
      <p:sp>
        <p:nvSpPr>
          <p:cNvPr id="7" name="TextBox 6">
            <a:extLst>
              <a:ext uri="{FF2B5EF4-FFF2-40B4-BE49-F238E27FC236}">
                <a16:creationId xmlns:a16="http://schemas.microsoft.com/office/drawing/2014/main" id="{A5E0F2E2-294D-696F-6D3A-A493505CC574}"/>
              </a:ext>
            </a:extLst>
          </p:cNvPr>
          <p:cNvSpPr txBox="1"/>
          <p:nvPr/>
        </p:nvSpPr>
        <p:spPr>
          <a:xfrm>
            <a:off x="5170945" y="653143"/>
            <a:ext cx="1850122" cy="523220"/>
          </a:xfrm>
          <a:prstGeom prst="rect">
            <a:avLst/>
          </a:prstGeom>
          <a:noFill/>
        </p:spPr>
        <p:txBody>
          <a:bodyPr wrap="non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References</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573FEC1-560F-2CB0-3CF0-D3CBB7C78DC1}"/>
              </a:ext>
            </a:extLst>
          </p:cNvPr>
          <p:cNvSpPr txBox="1"/>
          <p:nvPr/>
        </p:nvSpPr>
        <p:spPr>
          <a:xfrm>
            <a:off x="838200" y="1592825"/>
            <a:ext cx="10186750" cy="4110741"/>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[5] Y. Ding et al., “A Survey on LLM-Based Software Engineering: Trends and Challenges,”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preprint arXiv:2403.09479, Mar. 2024.</a:t>
            </a: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[6] M. Chen et al., “Evaluating Large Language Models Trained on Code,”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preprint arXiv:2107.03374, Jul. 2021.</a:t>
            </a: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[7] E. Nijkamp et al., “</a:t>
            </a:r>
            <a:r>
              <a:rPr lang="en-US" sz="1600" dirty="0" err="1">
                <a:latin typeface="Times New Roman" panose="02020603050405020304" pitchFamily="18" charset="0"/>
                <a:cs typeface="Times New Roman" panose="02020603050405020304" pitchFamily="18" charset="0"/>
              </a:rPr>
              <a:t>CodeGen</a:t>
            </a:r>
            <a:r>
              <a:rPr lang="en-US" sz="1600" dirty="0">
                <a:latin typeface="Times New Roman" panose="02020603050405020304" pitchFamily="18" charset="0"/>
                <a:cs typeface="Times New Roman" panose="02020603050405020304" pitchFamily="18" charset="0"/>
              </a:rPr>
              <a:t>: An Open Large Language Model for Code with Multi-Turn Program Synthesis,” in Proc. International Conference on Learning Representations (ICLR), 2023.</a:t>
            </a: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[8] T. J. McCabe, “A complexity measure,” IEEE Transactions on Software Engineering, vol. SE-2, no. 4, pp. 308–320, Dec. 1976.</a:t>
            </a:r>
          </a:p>
          <a:p>
            <a:pPr algn="just">
              <a:lnSpc>
                <a:spcPct val="150000"/>
              </a:lnSpc>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0556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CCFCB-804D-C5FB-1F1D-2A8ABDBBD6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818183C-7455-B255-DB1D-FAD6112AF509}"/>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3278C52-1669-BA30-A486-105188EA8908}"/>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3CC8C8FC-86DC-627C-E779-1AD157E08D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DC101125-6541-6972-8016-6AD26706DFFA}"/>
              </a:ext>
            </a:extLst>
          </p:cNvPr>
          <p:cNvSpPr>
            <a:spLocks noGrp="1"/>
          </p:cNvSpPr>
          <p:nvPr>
            <p:ph type="dt" sz="half" idx="10"/>
          </p:nvPr>
        </p:nvSpPr>
        <p:spPr/>
        <p:txBody>
          <a:bodyPr/>
          <a:lstStyle/>
          <a:p>
            <a:fld id="{94BEC837-73E5-41BC-837E-78D9EE6A26D4}" type="datetime9">
              <a:rPr lang="en-US" smtClean="0"/>
              <a:t>4/18/2026 12:07:47 PM</a:t>
            </a:fld>
            <a:endParaRPr lang="en-US"/>
          </a:p>
        </p:txBody>
      </p:sp>
      <p:sp>
        <p:nvSpPr>
          <p:cNvPr id="6" name="Slide Number Placeholder 5">
            <a:extLst>
              <a:ext uri="{FF2B5EF4-FFF2-40B4-BE49-F238E27FC236}">
                <a16:creationId xmlns:a16="http://schemas.microsoft.com/office/drawing/2014/main" id="{F1251467-6535-F36A-DEEC-3499995BC809}"/>
              </a:ext>
            </a:extLst>
          </p:cNvPr>
          <p:cNvSpPr>
            <a:spLocks noGrp="1"/>
          </p:cNvSpPr>
          <p:nvPr>
            <p:ph type="sldNum" sz="quarter" idx="12"/>
          </p:nvPr>
        </p:nvSpPr>
        <p:spPr/>
        <p:txBody>
          <a:bodyPr/>
          <a:lstStyle/>
          <a:p>
            <a:fld id="{5DA9DDE7-DF24-421B-8B5A-9F7A222497E2}" type="slidenum">
              <a:rPr lang="en-US" smtClean="0"/>
              <a:t>13</a:t>
            </a:fld>
            <a:endParaRPr lang="en-US" dirty="0"/>
          </a:p>
        </p:txBody>
      </p:sp>
      <p:sp>
        <p:nvSpPr>
          <p:cNvPr id="7" name="TextBox 6">
            <a:extLst>
              <a:ext uri="{FF2B5EF4-FFF2-40B4-BE49-F238E27FC236}">
                <a16:creationId xmlns:a16="http://schemas.microsoft.com/office/drawing/2014/main" id="{8701210E-9FEC-3738-A325-7C575523CBBC}"/>
              </a:ext>
            </a:extLst>
          </p:cNvPr>
          <p:cNvSpPr txBox="1"/>
          <p:nvPr/>
        </p:nvSpPr>
        <p:spPr>
          <a:xfrm>
            <a:off x="5170945" y="653143"/>
            <a:ext cx="1850122" cy="523220"/>
          </a:xfrm>
          <a:prstGeom prst="rect">
            <a:avLst/>
          </a:prstGeom>
          <a:noFill/>
        </p:spPr>
        <p:txBody>
          <a:bodyPr wrap="non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References</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495F8EC-2890-E0A0-3643-80D814D55468}"/>
              </a:ext>
            </a:extLst>
          </p:cNvPr>
          <p:cNvSpPr txBox="1"/>
          <p:nvPr/>
        </p:nvSpPr>
        <p:spPr>
          <a:xfrm>
            <a:off x="838200" y="1592825"/>
            <a:ext cx="10186750" cy="2633413"/>
          </a:xfrm>
          <a:prstGeom prst="rect">
            <a:avLst/>
          </a:prstGeom>
          <a:noFill/>
        </p:spPr>
        <p:txBody>
          <a:bodyPr wrap="square" rtlCol="0">
            <a:spAutoFit/>
          </a:bodyPr>
          <a:lstStyle/>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[9] S. R. Chidamber and C. F. Kemerer, “A metrics suite for object-oriented design,” IEEE Transactions on Software Engineering, vol. 20, no. 6, pp. 476–493, Jun. 1994.</a:t>
            </a: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[10] C. Parnin and S. Rugaber, “Resumption strategies for interrupted programming tasks,” Software Quality Journal, vol. 19, no. 1, pp. 5–34, Mar. 2011.</a:t>
            </a:r>
          </a:p>
          <a:p>
            <a:pPr algn="just">
              <a:lnSpc>
                <a:spcPct val="150000"/>
              </a:lnSpc>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1475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2548</TotalTime>
  <Words>1246</Words>
  <Application>Microsoft Office PowerPoint</Application>
  <PresentationFormat>Widescreen</PresentationFormat>
  <Paragraphs>121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padakanti dilip</dc:creator>
  <cp:lastModifiedBy>Nithin Singarapu</cp:lastModifiedBy>
  <cp:revision>113</cp:revision>
  <dcterms:created xsi:type="dcterms:W3CDTF">2025-08-28T08:39:55Z</dcterms:created>
  <dcterms:modified xsi:type="dcterms:W3CDTF">2026-04-18T07:46:17Z</dcterms:modified>
</cp:coreProperties>
</file>